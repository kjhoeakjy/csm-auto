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sldIdLst>
    <p:sldId id="256" r:id="rId2"/>
    <p:sldId id="257" r:id="rId3"/>
  </p:sldIdLst>
  <p:sldSz cx="12192000" cy="6858000"/>
  <p:notesSz cx="6858000" cy="9144000"/>
  <p:embeddedFontLst>
    <p:embeddedFont>
      <p:font typeface="Pretendard" panose="02000003000000020004" pitchFamily="2" charset="-127"/>
      <p:regular r:id="rId4"/>
      <p:bold r:id="rId5"/>
    </p:embeddedFont>
    <p:embeddedFont>
      <p:font typeface="Pretendard Medium" panose="02000003000000020004" pitchFamily="2" charset="-127"/>
      <p:regular r:id="rId6"/>
    </p:embeddedFont>
    <p:embeddedFont>
      <p:font typeface="Pretendard SemiBold" panose="02000003000000020004" pitchFamily="2" charset="-127"/>
      <p:bold r:id="rId7"/>
    </p:embeddedFont>
  </p:embeddedFontLst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font" Target="fonts/font4.fntdata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font" Target="fonts/font3.fntdata"/><Relationship Id="rId11" Type="http://schemas.openxmlformats.org/officeDocument/2006/relationships/tableStyles" Target="tableStyles.xml"/><Relationship Id="rId5" Type="http://schemas.openxmlformats.org/officeDocument/2006/relationships/font" Target="fonts/font2.fntdata"/><Relationship Id="rId10" Type="http://schemas.openxmlformats.org/officeDocument/2006/relationships/theme" Target="theme/theme1.xml"/><Relationship Id="rId4" Type="http://schemas.openxmlformats.org/officeDocument/2006/relationships/font" Target="fonts/font1.fntdata"/><Relationship Id="rId9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10/22/2026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10/22/2026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10/22/2026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10/22/2026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566928"/>
            <a:ext cx="11094415" cy="41148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>
                <a:solidFill>
                  <a:srgbClr val="000000"/>
                </a:solidFill>
                <a:latin typeface="Pretendard"/>
                <a:ea typeface="Pretendard"/>
                <a:cs typeface="Pretendard"/>
              </a:rPr>
              <a:t>Experience Timeline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83957"/>
            <a:ext cx="11094415" cy="9525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3154679"/>
            <a:ext cx="731520" cy="18288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6B6B6B"/>
                </a:solidFill>
                <a:latin typeface="Pretendard Medium"/>
                <a:ea typeface="Pretendard Medium"/>
                <a:cs typeface="Pretendard Medium"/>
              </a:rPr>
              <a:t>학업, 경험</a:t>
            </a:r>
          </a:p>
        </p:txBody>
      </p:sp>
      <p:sp>
        <p:nvSpPr>
          <p:cNvPr id="5" name="Rectangle 4"/>
          <p:cNvSpPr/>
          <p:nvPr/>
        </p:nvSpPr>
        <p:spPr>
          <a:xfrm>
            <a:off x="1371600" y="3236595"/>
            <a:ext cx="7178040" cy="1905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6" name="Connector 5"/>
          <p:cNvCxnSpPr/>
          <p:nvPr/>
        </p:nvCxnSpPr>
        <p:spPr>
          <a:xfrm>
            <a:off x="8549640" y="3246120"/>
            <a:ext cx="292608" cy="466344"/>
          </a:xfrm>
          <a:prstGeom prst="line">
            <a:avLst/>
          </a:prstGeom>
          <a:ln w="19050">
            <a:solidFill>
              <a:srgbClr val="000000"/>
            </a:solidFill>
          </a:ln>
        </p:spPr>
      </p:cxnSp>
      <p:sp>
        <p:nvSpPr>
          <p:cNvPr id="7" name="TextBox 6"/>
          <p:cNvSpPr txBox="1"/>
          <p:nvPr/>
        </p:nvSpPr>
        <p:spPr>
          <a:xfrm>
            <a:off x="548640" y="4343400"/>
            <a:ext cx="731520" cy="18288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6B6B6B"/>
                </a:solidFill>
                <a:latin typeface="Pretendard Medium"/>
                <a:ea typeface="Pretendard Medium"/>
                <a:cs typeface="Pretendard Medium"/>
              </a:rPr>
              <a:t>프로젝트</a:t>
            </a:r>
          </a:p>
        </p:txBody>
      </p:sp>
      <p:sp>
        <p:nvSpPr>
          <p:cNvPr id="8" name="Rectangle 7"/>
          <p:cNvSpPr/>
          <p:nvPr/>
        </p:nvSpPr>
        <p:spPr>
          <a:xfrm>
            <a:off x="1371600" y="4425315"/>
            <a:ext cx="7178040" cy="1905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9" name="Connector 8"/>
          <p:cNvCxnSpPr/>
          <p:nvPr/>
        </p:nvCxnSpPr>
        <p:spPr>
          <a:xfrm flipV="1">
            <a:off x="8549640" y="3968496"/>
            <a:ext cx="292608" cy="466344"/>
          </a:xfrm>
          <a:prstGeom prst="line">
            <a:avLst/>
          </a:prstGeom>
          <a:ln w="19050">
            <a:solidFill>
              <a:srgbClr val="000000"/>
            </a:solidFill>
          </a:ln>
        </p:spPr>
      </p:cxnSp>
      <p:sp>
        <p:nvSpPr>
          <p:cNvPr id="10" name="TextBox 9"/>
          <p:cNvSpPr txBox="1"/>
          <p:nvPr/>
        </p:nvSpPr>
        <p:spPr>
          <a:xfrm>
            <a:off x="1600200" y="1371600"/>
            <a:ext cx="5943600" cy="201168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>
                <a:solidFill>
                  <a:srgbClr val="000000"/>
                </a:solidFill>
                <a:latin typeface="Pretendard"/>
                <a:ea typeface="Pretendard"/>
                <a:cs typeface="Pretendard"/>
              </a:rPr>
              <a:t>통계학 학사</a:t>
            </a:r>
            <a:r>
              <a:rPr sz="85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   2021.03 ~ 2025.08</a:t>
            </a:r>
            <a:r>
              <a:rPr sz="8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   통계적 추론과 모델링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600200" y="1618488"/>
            <a:ext cx="3424270" cy="82296"/>
          </a:xfrm>
          <a:prstGeom prst="rect">
            <a:avLst/>
          </a:prstGeom>
          <a:solidFill>
            <a:srgbClr val="D2D2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12" name="Connector 11"/>
          <p:cNvCxnSpPr/>
          <p:nvPr/>
        </p:nvCxnSpPr>
        <p:spPr>
          <a:xfrm>
            <a:off x="1600200" y="1700784"/>
            <a:ext cx="0" cy="1335024"/>
          </a:xfrm>
          <a:prstGeom prst="line">
            <a:avLst/>
          </a:prstGeom>
          <a:ln w="9525">
            <a:solidFill>
              <a:srgbClr val="DDDDDD"/>
            </a:solidFill>
          </a:ln>
        </p:spPr>
      </p:cxnSp>
      <p:sp>
        <p:nvSpPr>
          <p:cNvPr id="13" name="Oval 12"/>
          <p:cNvSpPr/>
          <p:nvPr/>
        </p:nvSpPr>
        <p:spPr>
          <a:xfrm>
            <a:off x="1389888" y="3035808"/>
            <a:ext cx="420624" cy="42062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Freeform 13"/>
          <p:cNvSpPr/>
          <p:nvPr/>
        </p:nvSpPr>
        <p:spPr>
          <a:xfrm>
            <a:off x="1481328" y="3163824"/>
            <a:ext cx="237744" cy="109727"/>
          </a:xfrm>
          <a:custGeom>
            <a:avLst/>
            <a:gdLst/>
            <a:ahLst/>
            <a:cxnLst/>
            <a:rect l="l" t="t" r="r" b="b"/>
            <a:pathLst>
              <a:path w="237744" h="109727">
                <a:moveTo>
                  <a:pt x="0" y="54864"/>
                </a:moveTo>
                <a:lnTo>
                  <a:pt x="118872" y="0"/>
                </a:lnTo>
                <a:lnTo>
                  <a:pt x="237744" y="54864"/>
                </a:lnTo>
                <a:lnTo>
                  <a:pt x="118872" y="109727"/>
                </a:lnTo>
                <a:close/>
              </a:path>
            </a:pathLst>
          </a:custGeom>
          <a:noFill/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Freeform 14"/>
          <p:cNvSpPr/>
          <p:nvPr/>
        </p:nvSpPr>
        <p:spPr>
          <a:xfrm>
            <a:off x="1536192" y="3246120"/>
            <a:ext cx="128016" cy="64007"/>
          </a:xfrm>
          <a:custGeom>
            <a:avLst/>
            <a:gdLst/>
            <a:ahLst/>
            <a:cxnLst/>
            <a:rect l="l" t="t" r="r" b="b"/>
            <a:pathLst>
              <a:path w="128016" h="64007">
                <a:moveTo>
                  <a:pt x="0" y="0"/>
                </a:moveTo>
                <a:lnTo>
                  <a:pt x="0" y="64007"/>
                </a:lnTo>
                <a:lnTo>
                  <a:pt x="128016" y="64007"/>
                </a:lnTo>
                <a:lnTo>
                  <a:pt x="128016" y="0"/>
                </a:lnTo>
              </a:path>
            </a:pathLst>
          </a:custGeom>
          <a:noFill/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16" name="Connector 15"/>
          <p:cNvCxnSpPr/>
          <p:nvPr/>
        </p:nvCxnSpPr>
        <p:spPr>
          <a:xfrm>
            <a:off x="1700784" y="3227832"/>
            <a:ext cx="0" cy="82295"/>
          </a:xfrm>
          <a:prstGeom prst="line">
            <a:avLst/>
          </a:prstGeom>
          <a:ln w="12700">
            <a:solidFill>
              <a:srgbClr val="000000"/>
            </a:solidFill>
          </a:ln>
        </p:spPr>
      </p:cxnSp>
      <p:sp>
        <p:nvSpPr>
          <p:cNvPr id="17" name="TextBox 16"/>
          <p:cNvSpPr txBox="1"/>
          <p:nvPr/>
        </p:nvSpPr>
        <p:spPr>
          <a:xfrm>
            <a:off x="2926080" y="1801368"/>
            <a:ext cx="5943600" cy="201168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>
                <a:solidFill>
                  <a:srgbClr val="000000"/>
                </a:solidFill>
                <a:latin typeface="Pretendard"/>
                <a:ea typeface="Pretendard"/>
                <a:cs typeface="Pretendard"/>
              </a:rPr>
              <a:t>외국인 학생 멘토링</a:t>
            </a:r>
            <a:r>
              <a:rPr sz="85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   2024.09 ~ 2024.12</a:t>
            </a:r>
            <a:r>
              <a:rPr sz="8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   통계학 전공 학업 지원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926080" y="2048256"/>
            <a:ext cx="572288" cy="82296"/>
          </a:xfrm>
          <a:prstGeom prst="rect">
            <a:avLst/>
          </a:prstGeom>
          <a:solidFill>
            <a:srgbClr val="D2D2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19" name="Connector 18"/>
          <p:cNvCxnSpPr/>
          <p:nvPr/>
        </p:nvCxnSpPr>
        <p:spPr>
          <a:xfrm>
            <a:off x="2926080" y="2130552"/>
            <a:ext cx="0" cy="905256"/>
          </a:xfrm>
          <a:prstGeom prst="line">
            <a:avLst/>
          </a:prstGeom>
          <a:ln w="9525">
            <a:solidFill>
              <a:srgbClr val="DDDDDD"/>
            </a:solidFill>
          </a:ln>
        </p:spPr>
      </p:cxnSp>
      <p:sp>
        <p:nvSpPr>
          <p:cNvPr id="20" name="Oval 19"/>
          <p:cNvSpPr/>
          <p:nvPr/>
        </p:nvSpPr>
        <p:spPr>
          <a:xfrm>
            <a:off x="2715768" y="3035808"/>
            <a:ext cx="420624" cy="42062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Freeform 20"/>
          <p:cNvSpPr/>
          <p:nvPr/>
        </p:nvSpPr>
        <p:spPr>
          <a:xfrm>
            <a:off x="2825496" y="3172968"/>
            <a:ext cx="201168" cy="164592"/>
          </a:xfrm>
          <a:custGeom>
            <a:avLst/>
            <a:gdLst/>
            <a:ahLst/>
            <a:cxnLst/>
            <a:rect l="l" t="t" r="r" b="b"/>
            <a:pathLst>
              <a:path w="201168" h="164592">
                <a:moveTo>
                  <a:pt x="0" y="0"/>
                </a:moveTo>
                <a:lnTo>
                  <a:pt x="201168" y="0"/>
                </a:lnTo>
                <a:lnTo>
                  <a:pt x="201168" y="109728"/>
                </a:lnTo>
                <a:lnTo>
                  <a:pt x="82296" y="109728"/>
                </a:lnTo>
                <a:lnTo>
                  <a:pt x="36576" y="164592"/>
                </a:lnTo>
                <a:lnTo>
                  <a:pt x="45720" y="109728"/>
                </a:lnTo>
                <a:lnTo>
                  <a:pt x="0" y="109728"/>
                </a:lnTo>
                <a:close/>
              </a:path>
            </a:pathLst>
          </a:custGeom>
          <a:noFill/>
          <a:ln w="158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22" name="Connector 21"/>
          <p:cNvCxnSpPr/>
          <p:nvPr/>
        </p:nvCxnSpPr>
        <p:spPr>
          <a:xfrm>
            <a:off x="2866644" y="3214115"/>
            <a:ext cx="118872" cy="0"/>
          </a:xfrm>
          <a:prstGeom prst="line">
            <a:avLst/>
          </a:prstGeom>
          <a:ln w="11430">
            <a:solidFill>
              <a:srgbClr val="000000"/>
            </a:solidFill>
          </a:ln>
        </p:spPr>
      </p:cxnSp>
      <p:cxnSp>
        <p:nvCxnSpPr>
          <p:cNvPr id="23" name="Connector 22"/>
          <p:cNvCxnSpPr/>
          <p:nvPr/>
        </p:nvCxnSpPr>
        <p:spPr>
          <a:xfrm>
            <a:off x="2866644" y="3246120"/>
            <a:ext cx="118872" cy="0"/>
          </a:xfrm>
          <a:prstGeom prst="line">
            <a:avLst/>
          </a:prstGeom>
          <a:ln w="11430">
            <a:solidFill>
              <a:srgbClr val="000000"/>
            </a:solidFill>
          </a:ln>
        </p:spPr>
      </p:cxnSp>
      <p:sp>
        <p:nvSpPr>
          <p:cNvPr id="24" name="TextBox 23"/>
          <p:cNvSpPr txBox="1"/>
          <p:nvPr/>
        </p:nvSpPr>
        <p:spPr>
          <a:xfrm>
            <a:off x="3689131" y="2231136"/>
            <a:ext cx="5943600" cy="201168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>
                <a:solidFill>
                  <a:srgbClr val="000000"/>
                </a:solidFill>
                <a:latin typeface="Pretendard"/>
                <a:ea typeface="Pretendard"/>
                <a:cs typeface="Pretendard"/>
              </a:rPr>
              <a:t>인공지능 학회</a:t>
            </a:r>
            <a:r>
              <a:rPr sz="85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   2025.01 ~ 2026.07</a:t>
            </a:r>
            <a:r>
              <a:rPr sz="8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   학회장, 운영팀장, 스터디 진행, 프로젝트 진행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689131" y="2478024"/>
            <a:ext cx="3433729" cy="82296"/>
          </a:xfrm>
          <a:prstGeom prst="rect">
            <a:avLst/>
          </a:prstGeom>
          <a:solidFill>
            <a:srgbClr val="D2D2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26" name="Connector 25"/>
          <p:cNvCxnSpPr/>
          <p:nvPr/>
        </p:nvCxnSpPr>
        <p:spPr>
          <a:xfrm>
            <a:off x="3689131" y="2560320"/>
            <a:ext cx="0" cy="475488"/>
          </a:xfrm>
          <a:prstGeom prst="line">
            <a:avLst/>
          </a:prstGeom>
          <a:ln w="9525">
            <a:solidFill>
              <a:srgbClr val="DDDDDD"/>
            </a:solidFill>
          </a:ln>
        </p:spPr>
      </p:cxnSp>
      <p:sp>
        <p:nvSpPr>
          <p:cNvPr id="27" name="Oval 26"/>
          <p:cNvSpPr/>
          <p:nvPr/>
        </p:nvSpPr>
        <p:spPr>
          <a:xfrm>
            <a:off x="3478819" y="3035808"/>
            <a:ext cx="420624" cy="42062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Oval 27"/>
          <p:cNvSpPr/>
          <p:nvPr/>
        </p:nvSpPr>
        <p:spPr>
          <a:xfrm>
            <a:off x="3606835" y="3168396"/>
            <a:ext cx="64008" cy="64008"/>
          </a:xfrm>
          <a:prstGeom prst="ellipse">
            <a:avLst/>
          </a:prstGeom>
          <a:solidFill>
            <a:srgbClr val="FFFFFF"/>
          </a:solidFill>
          <a:ln w="158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Freeform 28"/>
          <p:cNvSpPr/>
          <p:nvPr/>
        </p:nvSpPr>
        <p:spPr>
          <a:xfrm>
            <a:off x="3588547" y="3273551"/>
            <a:ext cx="100584" cy="54864"/>
          </a:xfrm>
          <a:custGeom>
            <a:avLst/>
            <a:gdLst/>
            <a:ahLst/>
            <a:cxnLst/>
            <a:rect l="l" t="t" r="r" b="b"/>
            <a:pathLst>
              <a:path w="100584" h="54864">
                <a:moveTo>
                  <a:pt x="0" y="54864"/>
                </a:moveTo>
                <a:lnTo>
                  <a:pt x="9144" y="0"/>
                </a:lnTo>
                <a:lnTo>
                  <a:pt x="91440" y="0"/>
                </a:lnTo>
                <a:lnTo>
                  <a:pt x="100584" y="54864"/>
                </a:lnTo>
              </a:path>
            </a:pathLst>
          </a:custGeom>
          <a:noFill/>
          <a:ln w="158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Oval 29"/>
          <p:cNvSpPr/>
          <p:nvPr/>
        </p:nvSpPr>
        <p:spPr>
          <a:xfrm>
            <a:off x="3716563" y="3172968"/>
            <a:ext cx="54864" cy="54864"/>
          </a:xfrm>
          <a:prstGeom prst="ellipse">
            <a:avLst/>
          </a:prstGeom>
          <a:solidFill>
            <a:srgbClr val="FFFFFF"/>
          </a:solidFill>
          <a:ln w="158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Freeform 30"/>
          <p:cNvSpPr/>
          <p:nvPr/>
        </p:nvSpPr>
        <p:spPr>
          <a:xfrm>
            <a:off x="3693703" y="3273551"/>
            <a:ext cx="100584" cy="54864"/>
          </a:xfrm>
          <a:custGeom>
            <a:avLst/>
            <a:gdLst/>
            <a:ahLst/>
            <a:cxnLst/>
            <a:rect l="l" t="t" r="r" b="b"/>
            <a:pathLst>
              <a:path w="100584" h="54864">
                <a:moveTo>
                  <a:pt x="0" y="54864"/>
                </a:moveTo>
                <a:lnTo>
                  <a:pt x="9144" y="0"/>
                </a:lnTo>
                <a:lnTo>
                  <a:pt x="91440" y="0"/>
                </a:lnTo>
                <a:lnTo>
                  <a:pt x="100584" y="54864"/>
                </a:lnTo>
              </a:path>
            </a:pathLst>
          </a:custGeom>
          <a:noFill/>
          <a:ln w="158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5215233" y="2660904"/>
            <a:ext cx="5943600" cy="201168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>
                <a:solidFill>
                  <a:srgbClr val="000000"/>
                </a:solidFill>
                <a:latin typeface="Pretendard"/>
                <a:ea typeface="Pretendard"/>
                <a:cs typeface="Pretendard"/>
              </a:rPr>
              <a:t>통계학 석사</a:t>
            </a:r>
            <a:r>
              <a:rPr sz="85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   2025.09 ~ 2027.02</a:t>
            </a:r>
            <a:r>
              <a:rPr sz="8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   딥러닝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215233" y="2907792"/>
            <a:ext cx="3242966" cy="82296"/>
          </a:xfrm>
          <a:prstGeom prst="rect">
            <a:avLst/>
          </a:prstGeom>
          <a:solidFill>
            <a:srgbClr val="D2D2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34" name="Connector 33"/>
          <p:cNvCxnSpPr/>
          <p:nvPr/>
        </p:nvCxnSpPr>
        <p:spPr>
          <a:xfrm>
            <a:off x="5215233" y="2990088"/>
            <a:ext cx="0" cy="45720"/>
          </a:xfrm>
          <a:prstGeom prst="line">
            <a:avLst/>
          </a:prstGeom>
          <a:ln w="9525">
            <a:solidFill>
              <a:srgbClr val="DDDDDD"/>
            </a:solidFill>
          </a:ln>
        </p:spPr>
      </p:cxnSp>
      <p:sp>
        <p:nvSpPr>
          <p:cNvPr id="35" name="Oval 34"/>
          <p:cNvSpPr/>
          <p:nvPr/>
        </p:nvSpPr>
        <p:spPr>
          <a:xfrm>
            <a:off x="5004921" y="3035808"/>
            <a:ext cx="420624" cy="42062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Freeform 35"/>
          <p:cNvSpPr/>
          <p:nvPr/>
        </p:nvSpPr>
        <p:spPr>
          <a:xfrm>
            <a:off x="5096361" y="3163824"/>
            <a:ext cx="237744" cy="109727"/>
          </a:xfrm>
          <a:custGeom>
            <a:avLst/>
            <a:gdLst/>
            <a:ahLst/>
            <a:cxnLst/>
            <a:rect l="l" t="t" r="r" b="b"/>
            <a:pathLst>
              <a:path w="237744" h="109727">
                <a:moveTo>
                  <a:pt x="0" y="54864"/>
                </a:moveTo>
                <a:lnTo>
                  <a:pt x="118872" y="0"/>
                </a:lnTo>
                <a:lnTo>
                  <a:pt x="237744" y="54864"/>
                </a:lnTo>
                <a:lnTo>
                  <a:pt x="118872" y="109727"/>
                </a:lnTo>
                <a:close/>
              </a:path>
            </a:pathLst>
          </a:custGeom>
          <a:noFill/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Freeform 36"/>
          <p:cNvSpPr/>
          <p:nvPr/>
        </p:nvSpPr>
        <p:spPr>
          <a:xfrm>
            <a:off x="5151225" y="3246120"/>
            <a:ext cx="128016" cy="64007"/>
          </a:xfrm>
          <a:custGeom>
            <a:avLst/>
            <a:gdLst/>
            <a:ahLst/>
            <a:cxnLst/>
            <a:rect l="l" t="t" r="r" b="b"/>
            <a:pathLst>
              <a:path w="128016" h="64007">
                <a:moveTo>
                  <a:pt x="0" y="0"/>
                </a:moveTo>
                <a:lnTo>
                  <a:pt x="0" y="64007"/>
                </a:lnTo>
                <a:lnTo>
                  <a:pt x="128016" y="64007"/>
                </a:lnTo>
                <a:lnTo>
                  <a:pt x="128016" y="0"/>
                </a:lnTo>
              </a:path>
            </a:pathLst>
          </a:custGeom>
          <a:noFill/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38" name="Connector 37"/>
          <p:cNvCxnSpPr/>
          <p:nvPr/>
        </p:nvCxnSpPr>
        <p:spPr>
          <a:xfrm>
            <a:off x="5315817" y="3227832"/>
            <a:ext cx="0" cy="82295"/>
          </a:xfrm>
          <a:prstGeom prst="line">
            <a:avLst/>
          </a:prstGeom>
          <a:ln w="12700">
            <a:solidFill>
              <a:srgbClr val="000000"/>
            </a:solidFill>
          </a:ln>
        </p:spPr>
      </p:cxnSp>
      <p:cxnSp>
        <p:nvCxnSpPr>
          <p:cNvPr id="39" name="Connector 38"/>
          <p:cNvCxnSpPr/>
          <p:nvPr/>
        </p:nvCxnSpPr>
        <p:spPr>
          <a:xfrm>
            <a:off x="1600200" y="4507992"/>
            <a:ext cx="0" cy="237744"/>
          </a:xfrm>
          <a:prstGeom prst="line">
            <a:avLst/>
          </a:prstGeom>
          <a:ln w="7620">
            <a:solidFill>
              <a:srgbClr val="9A9A9A"/>
            </a:solidFill>
          </a:ln>
        </p:spPr>
      </p:cxnSp>
      <p:cxnSp>
        <p:nvCxnSpPr>
          <p:cNvPr id="40" name="Connector 39"/>
          <p:cNvCxnSpPr/>
          <p:nvPr/>
        </p:nvCxnSpPr>
        <p:spPr>
          <a:xfrm>
            <a:off x="2263140" y="4507992"/>
            <a:ext cx="0" cy="804672"/>
          </a:xfrm>
          <a:prstGeom prst="line">
            <a:avLst/>
          </a:prstGeom>
          <a:ln w="7620">
            <a:solidFill>
              <a:srgbClr val="9A9A9A"/>
            </a:solidFill>
          </a:ln>
        </p:spPr>
      </p:cxnSp>
      <p:cxnSp>
        <p:nvCxnSpPr>
          <p:cNvPr id="41" name="Connector 40"/>
          <p:cNvCxnSpPr/>
          <p:nvPr/>
        </p:nvCxnSpPr>
        <p:spPr>
          <a:xfrm>
            <a:off x="2926080" y="4507992"/>
            <a:ext cx="0" cy="1371600"/>
          </a:xfrm>
          <a:prstGeom prst="line">
            <a:avLst/>
          </a:prstGeom>
          <a:ln w="7620">
            <a:solidFill>
              <a:srgbClr val="9A9A9A"/>
            </a:solidFill>
          </a:ln>
        </p:spPr>
      </p:cxnSp>
      <p:cxnSp>
        <p:nvCxnSpPr>
          <p:cNvPr id="42" name="Connector 41"/>
          <p:cNvCxnSpPr/>
          <p:nvPr/>
        </p:nvCxnSpPr>
        <p:spPr>
          <a:xfrm>
            <a:off x="3589020" y="4507992"/>
            <a:ext cx="0" cy="237744"/>
          </a:xfrm>
          <a:prstGeom prst="line">
            <a:avLst/>
          </a:prstGeom>
          <a:ln w="7620">
            <a:solidFill>
              <a:srgbClr val="9A9A9A"/>
            </a:solidFill>
          </a:ln>
        </p:spPr>
      </p:cxnSp>
      <p:cxnSp>
        <p:nvCxnSpPr>
          <p:cNvPr id="43" name="Connector 42"/>
          <p:cNvCxnSpPr/>
          <p:nvPr/>
        </p:nvCxnSpPr>
        <p:spPr>
          <a:xfrm>
            <a:off x="4251960" y="4507992"/>
            <a:ext cx="0" cy="804672"/>
          </a:xfrm>
          <a:prstGeom prst="line">
            <a:avLst/>
          </a:prstGeom>
          <a:ln w="7620">
            <a:solidFill>
              <a:srgbClr val="9A9A9A"/>
            </a:solidFill>
          </a:ln>
        </p:spPr>
      </p:cxnSp>
      <p:cxnSp>
        <p:nvCxnSpPr>
          <p:cNvPr id="44" name="Connector 43"/>
          <p:cNvCxnSpPr/>
          <p:nvPr/>
        </p:nvCxnSpPr>
        <p:spPr>
          <a:xfrm>
            <a:off x="4914900" y="4507992"/>
            <a:ext cx="0" cy="1371600"/>
          </a:xfrm>
          <a:prstGeom prst="line">
            <a:avLst/>
          </a:prstGeom>
          <a:ln w="7620">
            <a:solidFill>
              <a:srgbClr val="9A9A9A"/>
            </a:solidFill>
          </a:ln>
        </p:spPr>
      </p:cxnSp>
      <p:cxnSp>
        <p:nvCxnSpPr>
          <p:cNvPr id="45" name="Connector 44"/>
          <p:cNvCxnSpPr/>
          <p:nvPr/>
        </p:nvCxnSpPr>
        <p:spPr>
          <a:xfrm>
            <a:off x="5577840" y="4507992"/>
            <a:ext cx="0" cy="237744"/>
          </a:xfrm>
          <a:prstGeom prst="line">
            <a:avLst/>
          </a:prstGeom>
          <a:ln w="7620">
            <a:solidFill>
              <a:srgbClr val="9A9A9A"/>
            </a:solidFill>
          </a:ln>
        </p:spPr>
      </p:cxnSp>
      <p:cxnSp>
        <p:nvCxnSpPr>
          <p:cNvPr id="46" name="Connector 45"/>
          <p:cNvCxnSpPr/>
          <p:nvPr/>
        </p:nvCxnSpPr>
        <p:spPr>
          <a:xfrm>
            <a:off x="6240780" y="4507992"/>
            <a:ext cx="0" cy="804672"/>
          </a:xfrm>
          <a:prstGeom prst="line">
            <a:avLst/>
          </a:prstGeom>
          <a:ln w="7620">
            <a:solidFill>
              <a:srgbClr val="9A9A9A"/>
            </a:solidFill>
          </a:ln>
        </p:spPr>
      </p:cxnSp>
      <p:cxnSp>
        <p:nvCxnSpPr>
          <p:cNvPr id="47" name="Connector 46"/>
          <p:cNvCxnSpPr/>
          <p:nvPr/>
        </p:nvCxnSpPr>
        <p:spPr>
          <a:xfrm>
            <a:off x="6903720" y="4507992"/>
            <a:ext cx="0" cy="1371600"/>
          </a:xfrm>
          <a:prstGeom prst="line">
            <a:avLst/>
          </a:prstGeom>
          <a:ln w="7620">
            <a:solidFill>
              <a:srgbClr val="9A9A9A"/>
            </a:solidFill>
          </a:ln>
        </p:spPr>
      </p:cxnSp>
      <p:cxnSp>
        <p:nvCxnSpPr>
          <p:cNvPr id="48" name="Connector 47"/>
          <p:cNvCxnSpPr/>
          <p:nvPr/>
        </p:nvCxnSpPr>
        <p:spPr>
          <a:xfrm>
            <a:off x="7566660" y="4507992"/>
            <a:ext cx="0" cy="237744"/>
          </a:xfrm>
          <a:prstGeom prst="line">
            <a:avLst/>
          </a:prstGeom>
          <a:ln w="7620">
            <a:solidFill>
              <a:srgbClr val="9A9A9A"/>
            </a:solidFill>
          </a:ln>
        </p:spPr>
      </p:cxnSp>
      <p:cxnSp>
        <p:nvCxnSpPr>
          <p:cNvPr id="49" name="Connector 48"/>
          <p:cNvCxnSpPr/>
          <p:nvPr/>
        </p:nvCxnSpPr>
        <p:spPr>
          <a:xfrm>
            <a:off x="8229600" y="4507992"/>
            <a:ext cx="0" cy="804672"/>
          </a:xfrm>
          <a:prstGeom prst="line">
            <a:avLst/>
          </a:prstGeom>
          <a:ln w="7620">
            <a:solidFill>
              <a:srgbClr val="9A9A9A"/>
            </a:solidFill>
          </a:ln>
        </p:spPr>
      </p:cxnSp>
      <p:sp>
        <p:nvSpPr>
          <p:cNvPr id="50" name="Oval 49"/>
          <p:cNvSpPr/>
          <p:nvPr/>
        </p:nvSpPr>
        <p:spPr>
          <a:xfrm>
            <a:off x="1545336" y="4379976"/>
            <a:ext cx="109728" cy="109728"/>
          </a:xfrm>
          <a:prstGeom prst="ellipse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TextBox 50"/>
          <p:cNvSpPr txBox="1"/>
          <p:nvPr/>
        </p:nvSpPr>
        <p:spPr>
          <a:xfrm>
            <a:off x="1563624" y="4727448"/>
            <a:ext cx="1393728" cy="411480"/>
          </a:xfrm>
          <a:prstGeom prst="rect">
            <a:avLst/>
          </a:prstGeom>
          <a:solidFill>
            <a:srgbClr val="FFFFFF"/>
          </a:solidFill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50" b="0">
                <a:solidFill>
                  <a:srgbClr val="000000"/>
                </a:solidFill>
                <a:latin typeface="Pretendard SemiBold"/>
                <a:ea typeface="Pretendard SemiBold"/>
                <a:cs typeface="Pretendard SemiBold"/>
              </a:rPr>
              <a:t>저해상도 조류 이미지 분류</a:t>
            </a:r>
          </a:p>
          <a:p>
            <a:pPr algn="l">
              <a:lnSpc>
                <a:spcPct val="120000"/>
              </a:lnSpc>
            </a:pPr>
            <a:r>
              <a:rPr sz="75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2025.01 ~ 2025.03</a:t>
            </a:r>
          </a:p>
        </p:txBody>
      </p:sp>
      <p:sp>
        <p:nvSpPr>
          <p:cNvPr id="52" name="Oval 51"/>
          <p:cNvSpPr/>
          <p:nvPr/>
        </p:nvSpPr>
        <p:spPr>
          <a:xfrm>
            <a:off x="2208276" y="4379976"/>
            <a:ext cx="109728" cy="109728"/>
          </a:xfrm>
          <a:prstGeom prst="ellipse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TextBox 52"/>
          <p:cNvSpPr txBox="1"/>
          <p:nvPr/>
        </p:nvSpPr>
        <p:spPr>
          <a:xfrm>
            <a:off x="2226564" y="5294376"/>
            <a:ext cx="1393728" cy="411480"/>
          </a:xfrm>
          <a:prstGeom prst="rect">
            <a:avLst/>
          </a:prstGeom>
          <a:solidFill>
            <a:srgbClr val="FFFFFF"/>
          </a:solidFill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50" b="0">
                <a:solidFill>
                  <a:srgbClr val="000000"/>
                </a:solidFill>
                <a:latin typeface="Pretendard SemiBold"/>
                <a:ea typeface="Pretendard SemiBold"/>
                <a:cs typeface="Pretendard SemiBold"/>
              </a:rPr>
              <a:t>오늘의집 리뷰 요약 시스템</a:t>
            </a:r>
          </a:p>
          <a:p>
            <a:pPr algn="l">
              <a:lnSpc>
                <a:spcPct val="120000"/>
              </a:lnSpc>
            </a:pPr>
            <a:r>
              <a:rPr sz="75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2025.03 ~ 2025.08</a:t>
            </a:r>
          </a:p>
        </p:txBody>
      </p:sp>
      <p:sp>
        <p:nvSpPr>
          <p:cNvPr id="54" name="Oval 53"/>
          <p:cNvSpPr/>
          <p:nvPr/>
        </p:nvSpPr>
        <p:spPr>
          <a:xfrm>
            <a:off x="2871216" y="4379976"/>
            <a:ext cx="109728" cy="109728"/>
          </a:xfrm>
          <a:prstGeom prst="ellipse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5" name="TextBox 54"/>
          <p:cNvSpPr txBox="1"/>
          <p:nvPr/>
        </p:nvSpPr>
        <p:spPr>
          <a:xfrm>
            <a:off x="2889504" y="5861304"/>
            <a:ext cx="1302014" cy="411480"/>
          </a:xfrm>
          <a:prstGeom prst="rect">
            <a:avLst/>
          </a:prstGeom>
          <a:solidFill>
            <a:srgbClr val="FFFFFF"/>
          </a:solidFill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50" b="0">
                <a:solidFill>
                  <a:srgbClr val="000000"/>
                </a:solidFill>
                <a:latin typeface="Pretendard SemiBold"/>
                <a:ea typeface="Pretendard SemiBold"/>
                <a:cs typeface="Pretendard SemiBold"/>
              </a:rPr>
              <a:t>AutoML 이미지 분류</a:t>
            </a:r>
          </a:p>
          <a:p>
            <a:pPr algn="l">
              <a:lnSpc>
                <a:spcPct val="120000"/>
              </a:lnSpc>
            </a:pPr>
            <a:r>
              <a:rPr sz="75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2025.05</a:t>
            </a:r>
          </a:p>
        </p:txBody>
      </p:sp>
      <p:sp>
        <p:nvSpPr>
          <p:cNvPr id="56" name="Oval 55"/>
          <p:cNvSpPr/>
          <p:nvPr/>
        </p:nvSpPr>
        <p:spPr>
          <a:xfrm>
            <a:off x="3534156" y="4379976"/>
            <a:ext cx="109728" cy="109728"/>
          </a:xfrm>
          <a:prstGeom prst="ellipse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7" name="TextBox 56"/>
          <p:cNvSpPr txBox="1"/>
          <p:nvPr/>
        </p:nvSpPr>
        <p:spPr>
          <a:xfrm>
            <a:off x="3552444" y="4727448"/>
            <a:ext cx="1760585" cy="411480"/>
          </a:xfrm>
          <a:prstGeom prst="rect">
            <a:avLst/>
          </a:prstGeom>
          <a:solidFill>
            <a:srgbClr val="FFFFFF"/>
          </a:solidFill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50" b="0">
                <a:solidFill>
                  <a:srgbClr val="000000"/>
                </a:solidFill>
                <a:latin typeface="Pretendard SemiBold"/>
                <a:ea typeface="Pretendard SemiBold"/>
                <a:cs typeface="Pretendard SemiBold"/>
              </a:rPr>
              <a:t>담낭암 생존분석 연구 (대형병원)</a:t>
            </a:r>
          </a:p>
          <a:p>
            <a:pPr algn="l">
              <a:lnSpc>
                <a:spcPct val="120000"/>
              </a:lnSpc>
            </a:pPr>
            <a:r>
              <a:rPr sz="75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2025.06 ~ 2025.08</a:t>
            </a:r>
          </a:p>
        </p:txBody>
      </p:sp>
      <p:sp>
        <p:nvSpPr>
          <p:cNvPr id="58" name="Oval 57"/>
          <p:cNvSpPr/>
          <p:nvPr/>
        </p:nvSpPr>
        <p:spPr>
          <a:xfrm>
            <a:off x="4197096" y="4379976"/>
            <a:ext cx="109728" cy="109728"/>
          </a:xfrm>
          <a:prstGeom prst="ellipse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9" name="TextBox 58"/>
          <p:cNvSpPr txBox="1"/>
          <p:nvPr/>
        </p:nvSpPr>
        <p:spPr>
          <a:xfrm>
            <a:off x="4215384" y="5294376"/>
            <a:ext cx="1393728" cy="411480"/>
          </a:xfrm>
          <a:prstGeom prst="rect">
            <a:avLst/>
          </a:prstGeom>
          <a:solidFill>
            <a:srgbClr val="FFFFFF"/>
          </a:solidFill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50" b="0">
                <a:solidFill>
                  <a:srgbClr val="000000"/>
                </a:solidFill>
                <a:latin typeface="Pretendard SemiBold"/>
                <a:ea typeface="Pretendard SemiBold"/>
                <a:cs typeface="Pretendard SemiBold"/>
              </a:rPr>
              <a:t>시각장애인용 피부질환 예측</a:t>
            </a:r>
          </a:p>
          <a:p>
            <a:pPr algn="l">
              <a:lnSpc>
                <a:spcPct val="120000"/>
              </a:lnSpc>
            </a:pPr>
            <a:r>
              <a:rPr sz="75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2025.07</a:t>
            </a:r>
          </a:p>
        </p:txBody>
      </p:sp>
      <p:sp>
        <p:nvSpPr>
          <p:cNvPr id="60" name="Oval 59"/>
          <p:cNvSpPr/>
          <p:nvPr/>
        </p:nvSpPr>
        <p:spPr>
          <a:xfrm>
            <a:off x="4837176" y="4357116"/>
            <a:ext cx="155448" cy="155448"/>
          </a:xfrm>
          <a:prstGeom prst="ellipse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1" name="TextBox 60"/>
          <p:cNvSpPr txBox="1"/>
          <p:nvPr/>
        </p:nvSpPr>
        <p:spPr>
          <a:xfrm>
            <a:off x="4878324" y="5861304"/>
            <a:ext cx="1242669" cy="411480"/>
          </a:xfrm>
          <a:prstGeom prst="rect">
            <a:avLst/>
          </a:prstGeom>
          <a:solidFill>
            <a:srgbClr val="FFFFFF"/>
          </a:solidFill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1">
                <a:solidFill>
                  <a:srgbClr val="000000"/>
                </a:solidFill>
                <a:latin typeface="Pretendard"/>
                <a:ea typeface="Pretendard"/>
                <a:cs typeface="Pretendard"/>
              </a:rPr>
              <a:t>환헤지 멀티에이전트</a:t>
            </a:r>
          </a:p>
          <a:p>
            <a:pPr algn="l">
              <a:lnSpc>
                <a:spcPct val="120000"/>
              </a:lnSpc>
            </a:pPr>
            <a:r>
              <a:rPr sz="8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2025.07 ~ 2025.12</a:t>
            </a:r>
          </a:p>
        </p:txBody>
      </p:sp>
      <p:sp>
        <p:nvSpPr>
          <p:cNvPr id="62" name="Oval 61"/>
          <p:cNvSpPr/>
          <p:nvPr/>
        </p:nvSpPr>
        <p:spPr>
          <a:xfrm>
            <a:off x="5522976" y="4379976"/>
            <a:ext cx="109728" cy="109728"/>
          </a:xfrm>
          <a:prstGeom prst="ellipse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3" name="TextBox 62"/>
          <p:cNvSpPr txBox="1"/>
          <p:nvPr/>
        </p:nvSpPr>
        <p:spPr>
          <a:xfrm>
            <a:off x="5541264" y="4727448"/>
            <a:ext cx="1210299" cy="411480"/>
          </a:xfrm>
          <a:prstGeom prst="rect">
            <a:avLst/>
          </a:prstGeom>
          <a:solidFill>
            <a:srgbClr val="FFFFFF"/>
          </a:solidFill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50" b="0">
                <a:solidFill>
                  <a:srgbClr val="000000"/>
                </a:solidFill>
                <a:latin typeface="Pretendard SemiBold"/>
                <a:ea typeface="Pretendard SemiBold"/>
                <a:cs typeface="Pretendard SemiBold"/>
              </a:rPr>
              <a:t>건물별 전력사용량 예측</a:t>
            </a:r>
          </a:p>
          <a:p>
            <a:pPr algn="l">
              <a:lnSpc>
                <a:spcPct val="120000"/>
              </a:lnSpc>
            </a:pPr>
            <a:r>
              <a:rPr sz="75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2025.08 ~ 2025.09</a:t>
            </a:r>
          </a:p>
        </p:txBody>
      </p:sp>
      <p:sp>
        <p:nvSpPr>
          <p:cNvPr id="64" name="Oval 63"/>
          <p:cNvSpPr/>
          <p:nvPr/>
        </p:nvSpPr>
        <p:spPr>
          <a:xfrm>
            <a:off x="6163056" y="4357116"/>
            <a:ext cx="155448" cy="155448"/>
          </a:xfrm>
          <a:prstGeom prst="ellipse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5" name="TextBox 64"/>
          <p:cNvSpPr txBox="1"/>
          <p:nvPr/>
        </p:nvSpPr>
        <p:spPr>
          <a:xfrm>
            <a:off x="6204204" y="5294376"/>
            <a:ext cx="1695846" cy="411480"/>
          </a:xfrm>
          <a:prstGeom prst="rect">
            <a:avLst/>
          </a:prstGeom>
          <a:solidFill>
            <a:srgbClr val="FFFFFF"/>
          </a:solidFill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1">
                <a:solidFill>
                  <a:srgbClr val="000000"/>
                </a:solidFill>
                <a:latin typeface="Pretendard"/>
                <a:ea typeface="Pretendard"/>
                <a:cs typeface="Pretendard"/>
              </a:rPr>
              <a:t>3D 의료 파운데이션 모델</a:t>
            </a:r>
          </a:p>
          <a:p>
            <a:pPr algn="l">
              <a:lnSpc>
                <a:spcPct val="120000"/>
              </a:lnSpc>
            </a:pPr>
            <a:r>
              <a:rPr sz="8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2025.09 ~ 2026.02</a:t>
            </a:r>
          </a:p>
        </p:txBody>
      </p:sp>
      <p:sp>
        <p:nvSpPr>
          <p:cNvPr id="66" name="Oval 65"/>
          <p:cNvSpPr/>
          <p:nvPr/>
        </p:nvSpPr>
        <p:spPr>
          <a:xfrm>
            <a:off x="6848856" y="4379976"/>
            <a:ext cx="109728" cy="109728"/>
          </a:xfrm>
          <a:prstGeom prst="ellipse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7" name="TextBox 66"/>
          <p:cNvSpPr txBox="1"/>
          <p:nvPr/>
        </p:nvSpPr>
        <p:spPr>
          <a:xfrm>
            <a:off x="6867144" y="5861304"/>
            <a:ext cx="1577157" cy="411480"/>
          </a:xfrm>
          <a:prstGeom prst="rect">
            <a:avLst/>
          </a:prstGeom>
          <a:solidFill>
            <a:srgbClr val="FFFFFF"/>
          </a:solidFill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50" b="0">
                <a:solidFill>
                  <a:srgbClr val="000000"/>
                </a:solidFill>
                <a:latin typeface="Pretendard SemiBold"/>
                <a:ea typeface="Pretendard SemiBold"/>
                <a:cs typeface="Pretendard SemiBold"/>
              </a:rPr>
              <a:t>의료 데이터 다변량 평균 비교</a:t>
            </a:r>
          </a:p>
          <a:p>
            <a:pPr algn="l">
              <a:lnSpc>
                <a:spcPct val="120000"/>
              </a:lnSpc>
            </a:pPr>
            <a:r>
              <a:rPr sz="75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2025.10</a:t>
            </a:r>
          </a:p>
        </p:txBody>
      </p:sp>
      <p:sp>
        <p:nvSpPr>
          <p:cNvPr id="68" name="Oval 67"/>
          <p:cNvSpPr/>
          <p:nvPr/>
        </p:nvSpPr>
        <p:spPr>
          <a:xfrm>
            <a:off x="7488936" y="4357116"/>
            <a:ext cx="155448" cy="155448"/>
          </a:xfrm>
          <a:prstGeom prst="ellipse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9" name="TextBox 68"/>
          <p:cNvSpPr txBox="1"/>
          <p:nvPr/>
        </p:nvSpPr>
        <p:spPr>
          <a:xfrm>
            <a:off x="7530084" y="4727448"/>
            <a:ext cx="1469257" cy="411480"/>
          </a:xfrm>
          <a:prstGeom prst="rect">
            <a:avLst/>
          </a:prstGeom>
          <a:solidFill>
            <a:srgbClr val="FFFFFF"/>
          </a:solidFill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1">
                <a:solidFill>
                  <a:srgbClr val="000000"/>
                </a:solidFill>
                <a:latin typeface="Pretendard"/>
                <a:ea typeface="Pretendard"/>
                <a:cs typeface="Pretendard"/>
              </a:rPr>
              <a:t>확률론 시험 자동 채점</a:t>
            </a:r>
          </a:p>
          <a:p>
            <a:pPr algn="l">
              <a:lnSpc>
                <a:spcPct val="120000"/>
              </a:lnSpc>
            </a:pPr>
            <a:r>
              <a:rPr sz="8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2026.02 ~ 2026.03</a:t>
            </a:r>
          </a:p>
        </p:txBody>
      </p:sp>
      <p:sp>
        <p:nvSpPr>
          <p:cNvPr id="70" name="Oval 69"/>
          <p:cNvSpPr/>
          <p:nvPr/>
        </p:nvSpPr>
        <p:spPr>
          <a:xfrm>
            <a:off x="8151875" y="4357116"/>
            <a:ext cx="155448" cy="155448"/>
          </a:xfrm>
          <a:prstGeom prst="ellipse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1" name="TextBox 70"/>
          <p:cNvSpPr txBox="1"/>
          <p:nvPr/>
        </p:nvSpPr>
        <p:spPr>
          <a:xfrm>
            <a:off x="8193024" y="5294376"/>
            <a:ext cx="2149022" cy="411480"/>
          </a:xfrm>
          <a:prstGeom prst="rect">
            <a:avLst/>
          </a:prstGeom>
          <a:solidFill>
            <a:srgbClr val="FFFFFF"/>
          </a:solidFill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1">
                <a:solidFill>
                  <a:srgbClr val="000000"/>
                </a:solidFill>
                <a:latin typeface="Pretendard"/>
                <a:ea typeface="Pretendard"/>
                <a:cs typeface="Pretendard"/>
              </a:rPr>
              <a:t>자율주행 ODD 위험평가 에이전트</a:t>
            </a:r>
          </a:p>
          <a:p>
            <a:pPr algn="l">
              <a:lnSpc>
                <a:spcPct val="120000"/>
              </a:lnSpc>
            </a:pPr>
            <a:r>
              <a:rPr sz="8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2026.05 ~ 2026.06</a:t>
            </a:r>
          </a:p>
        </p:txBody>
      </p:sp>
      <p:sp>
        <p:nvSpPr>
          <p:cNvPr id="72" name="Oval 71"/>
          <p:cNvSpPr/>
          <p:nvPr/>
        </p:nvSpPr>
        <p:spPr>
          <a:xfrm>
            <a:off x="8778240" y="3520440"/>
            <a:ext cx="640080" cy="640080"/>
          </a:xfrm>
          <a:prstGeom prst="ellipse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3" name="Freeform 72"/>
          <p:cNvSpPr/>
          <p:nvPr/>
        </p:nvSpPr>
        <p:spPr>
          <a:xfrm>
            <a:off x="8979407" y="3794760"/>
            <a:ext cx="237745" cy="137160"/>
          </a:xfrm>
          <a:custGeom>
            <a:avLst/>
            <a:gdLst/>
            <a:ahLst/>
            <a:cxnLst/>
            <a:rect l="l" t="t" r="r" b="b"/>
            <a:pathLst>
              <a:path w="237745" h="137160">
                <a:moveTo>
                  <a:pt x="0" y="0"/>
                </a:moveTo>
                <a:lnTo>
                  <a:pt x="237745" y="0"/>
                </a:lnTo>
                <a:lnTo>
                  <a:pt x="237745" y="137160"/>
                </a:lnTo>
                <a:lnTo>
                  <a:pt x="0" y="137160"/>
                </a:lnTo>
                <a:close/>
              </a:path>
            </a:pathLst>
          </a:custGeom>
          <a:noFill/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4" name="Freeform 73"/>
          <p:cNvSpPr/>
          <p:nvPr/>
        </p:nvSpPr>
        <p:spPr>
          <a:xfrm>
            <a:off x="9057132" y="3749040"/>
            <a:ext cx="82296" cy="45720"/>
          </a:xfrm>
          <a:custGeom>
            <a:avLst/>
            <a:gdLst/>
            <a:ahLst/>
            <a:cxnLst/>
            <a:rect l="l" t="t" r="r" b="b"/>
            <a:pathLst>
              <a:path w="82296" h="45720">
                <a:moveTo>
                  <a:pt x="0" y="45720"/>
                </a:moveTo>
                <a:lnTo>
                  <a:pt x="0" y="0"/>
                </a:lnTo>
                <a:lnTo>
                  <a:pt x="82296" y="0"/>
                </a:lnTo>
                <a:lnTo>
                  <a:pt x="82296" y="45720"/>
                </a:lnTo>
              </a:path>
            </a:pathLst>
          </a:custGeom>
          <a:noFill/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75" name="Connector 74"/>
          <p:cNvCxnSpPr/>
          <p:nvPr/>
        </p:nvCxnSpPr>
        <p:spPr>
          <a:xfrm>
            <a:off x="8979407" y="3849624"/>
            <a:ext cx="237745" cy="0"/>
          </a:xfrm>
          <a:prstGeom prst="line">
            <a:avLst/>
          </a:prstGeom>
          <a:ln w="12700">
            <a:solidFill>
              <a:srgbClr val="FFFFFF"/>
            </a:solidFill>
          </a:ln>
        </p:spPr>
      </p:cxnSp>
      <p:sp>
        <p:nvSpPr>
          <p:cNvPr id="76" name="TextBox 75"/>
          <p:cNvSpPr txBox="1"/>
          <p:nvPr/>
        </p:nvSpPr>
        <p:spPr>
          <a:xfrm>
            <a:off x="8823959" y="2167128"/>
            <a:ext cx="2651760" cy="1289304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000000"/>
                </a:solidFill>
                <a:latin typeface="Pretendard"/>
                <a:ea typeface="Pretendard"/>
                <a:cs typeface="Pretendard"/>
              </a:rPr>
              <a:t>BCG 인턴</a:t>
            </a:r>
          </a:p>
          <a:p>
            <a:pPr algn="l">
              <a:lnSpc>
                <a:spcPct val="125000"/>
              </a:lnSpc>
            </a:pPr>
            <a:r>
              <a:rPr sz="9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•  데이터마트 제작</a:t>
            </a:r>
          </a:p>
          <a:p>
            <a:pPr algn="l">
              <a:lnSpc>
                <a:spcPct val="125000"/>
              </a:lnSpc>
            </a:pPr>
            <a:r>
              <a:rPr sz="9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•  불량 확률 예측</a:t>
            </a:r>
          </a:p>
          <a:p>
            <a:pPr algn="l">
              <a:lnSpc>
                <a:spcPct val="125000"/>
              </a:lnSpc>
            </a:pPr>
            <a:r>
              <a:rPr sz="9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•  SHAP 분석 (CTP-CTQ matrix)</a:t>
            </a:r>
          </a:p>
          <a:p>
            <a:pPr algn="l">
              <a:lnSpc>
                <a:spcPct val="125000"/>
              </a:lnSpc>
            </a:pPr>
            <a:r>
              <a:rPr sz="9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•  LLM 에이전트 및 인터페이스 개발</a:t>
            </a:r>
          </a:p>
          <a:p>
            <a:pPr algn="l">
              <a:lnSpc>
                <a:spcPct val="125000"/>
              </a:lnSpc>
            </a:pPr>
            <a:r>
              <a:rPr sz="85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2026.06 ~ 2026.09</a:t>
            </a:r>
          </a:p>
        </p:txBody>
      </p:sp>
      <p:cxnSp>
        <p:nvCxnSpPr>
          <p:cNvPr id="77" name="Connector 76"/>
          <p:cNvCxnSpPr/>
          <p:nvPr/>
        </p:nvCxnSpPr>
        <p:spPr>
          <a:xfrm>
            <a:off x="9418319" y="3840480"/>
            <a:ext cx="658369" cy="0"/>
          </a:xfrm>
          <a:prstGeom prst="line">
            <a:avLst/>
          </a:prstGeom>
          <a:ln w="19050">
            <a:solidFill>
              <a:srgbClr val="000000"/>
            </a:solidFill>
          </a:ln>
        </p:spPr>
      </p:cxnSp>
      <p:sp>
        <p:nvSpPr>
          <p:cNvPr id="78" name="Oval 77"/>
          <p:cNvSpPr/>
          <p:nvPr/>
        </p:nvSpPr>
        <p:spPr>
          <a:xfrm>
            <a:off x="10076688" y="3630168"/>
            <a:ext cx="420624" cy="42062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9" name="Freeform 78"/>
          <p:cNvSpPr/>
          <p:nvPr/>
        </p:nvSpPr>
        <p:spPr>
          <a:xfrm>
            <a:off x="10177272" y="3767328"/>
            <a:ext cx="219456" cy="146304"/>
          </a:xfrm>
          <a:custGeom>
            <a:avLst/>
            <a:gdLst/>
            <a:ahLst/>
            <a:cxnLst/>
            <a:rect l="l" t="t" r="r" b="b"/>
            <a:pathLst>
              <a:path w="219456" h="146304">
                <a:moveTo>
                  <a:pt x="0" y="0"/>
                </a:moveTo>
                <a:lnTo>
                  <a:pt x="219456" y="0"/>
                </a:lnTo>
                <a:lnTo>
                  <a:pt x="219456" y="146304"/>
                </a:lnTo>
                <a:lnTo>
                  <a:pt x="0" y="146304"/>
                </a:lnTo>
                <a:close/>
              </a:path>
            </a:pathLst>
          </a:custGeom>
          <a:noFill/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80" name="Connector 79"/>
          <p:cNvCxnSpPr/>
          <p:nvPr/>
        </p:nvCxnSpPr>
        <p:spPr>
          <a:xfrm>
            <a:off x="10177272" y="3808476"/>
            <a:ext cx="219456" cy="0"/>
          </a:xfrm>
          <a:prstGeom prst="line">
            <a:avLst/>
          </a:prstGeom>
          <a:ln w="25400">
            <a:solidFill>
              <a:srgbClr val="000000"/>
            </a:solidFill>
          </a:ln>
        </p:spPr>
      </p:cxnSp>
      <p:cxnSp>
        <p:nvCxnSpPr>
          <p:cNvPr id="81" name="Connector 80"/>
          <p:cNvCxnSpPr/>
          <p:nvPr/>
        </p:nvCxnSpPr>
        <p:spPr>
          <a:xfrm>
            <a:off x="10213848" y="3877056"/>
            <a:ext cx="54864" cy="0"/>
          </a:xfrm>
          <a:prstGeom prst="line">
            <a:avLst/>
          </a:prstGeom>
          <a:ln w="12700">
            <a:solidFill>
              <a:srgbClr val="000000"/>
            </a:solidFill>
          </a:ln>
        </p:spPr>
      </p:cxnSp>
      <p:sp>
        <p:nvSpPr>
          <p:cNvPr id="82" name="TextBox 81"/>
          <p:cNvSpPr txBox="1"/>
          <p:nvPr/>
        </p:nvSpPr>
        <p:spPr>
          <a:xfrm>
            <a:off x="10012680" y="4169664"/>
            <a:ext cx="1630375" cy="27432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00000"/>
                </a:solidFill>
                <a:latin typeface="Pretendard"/>
                <a:ea typeface="Pretendard"/>
                <a:cs typeface="Pretendard"/>
              </a:rPr>
              <a:t>현대카드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566928"/>
            <a:ext cx="11094415" cy="41148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>
                <a:solidFill>
                  <a:srgbClr val="000000"/>
                </a:solidFill>
                <a:latin typeface="Pretendard"/>
                <a:ea typeface="Pretendard"/>
                <a:cs typeface="Pretendard"/>
              </a:rPr>
              <a:t>02 New Project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24128"/>
            <a:ext cx="11094415" cy="27432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신용평가모형 자동 점검 시스템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25880"/>
            <a:ext cx="11094415" cy="2286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000000"/>
                </a:solidFill>
                <a:latin typeface="Pretendard SemiBold"/>
                <a:ea typeface="Pretendard SemiBold"/>
                <a:cs typeface="Pretendard SemiBold"/>
              </a:rPr>
              <a:t>데이터</a:t>
            </a:r>
            <a:r>
              <a:rPr sz="10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  Lending Club 대출 226만 건 (2007~2018년)      </a:t>
            </a:r>
            <a:r>
              <a:rPr sz="1000" b="0">
                <a:solidFill>
                  <a:srgbClr val="000000"/>
                </a:solidFill>
                <a:latin typeface="Pretendard SemiBold"/>
                <a:ea typeface="Pretendard SemiBold"/>
                <a:cs typeface="Pretendard SemiBold"/>
              </a:rPr>
              <a:t>모형</a:t>
            </a:r>
            <a:r>
              <a:rPr sz="10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  2010~2012년 대출 8.7만 건의 대출 조건, 소득, 신용 이력으로 학습한 LightGBM 연체 예측모형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622869"/>
            <a:ext cx="11094415" cy="9525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48640" y="1755648"/>
            <a:ext cx="5486400" cy="2286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6B6B6B"/>
                </a:solidFill>
                <a:latin typeface="Pretendard Medium"/>
                <a:ea typeface="Pretendard Medium"/>
                <a:cs typeface="Pretendard Medium"/>
              </a:rPr>
              <a:t>문제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938528"/>
            <a:ext cx="5486400" cy="54864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>
                <a:solidFill>
                  <a:srgbClr val="000000"/>
                </a:solidFill>
                <a:latin typeface="Pretendard"/>
                <a:ea typeface="Pretendard"/>
                <a:cs typeface="Pretendard"/>
              </a:rPr>
              <a:t>신용평가모형의 예측 연체율과 실제 연체율 차이 확대</a:t>
            </a:r>
          </a:p>
          <a:p>
            <a:pPr algn="l">
              <a:lnSpc>
                <a:spcPct val="135000"/>
              </a:lnSpc>
            </a:pPr>
            <a:r>
              <a:rPr sz="10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실제 연체율 상승, 예측 연체율 하락 (연체율: 대출 실행 후 2년 내 상환 중단 후 손실 처리 비율)</a:t>
            </a:r>
          </a:p>
        </p:txBody>
      </p:sp>
      <p:pic>
        <p:nvPicPr>
          <p:cNvPr id="8" name="Picture 7" descr="chart_defaul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19" y="2697480"/>
            <a:ext cx="5486400" cy="2654709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537959" y="1755648"/>
            <a:ext cx="5105095" cy="2286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6B6B6B"/>
                </a:solidFill>
                <a:latin typeface="Pretendard Medium"/>
                <a:ea typeface="Pretendard Medium"/>
                <a:cs typeface="Pretendard Medium"/>
              </a:rPr>
              <a:t>작동 방식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37959" y="1965960"/>
            <a:ext cx="5105095" cy="27432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1  </a:t>
            </a:r>
            <a:r>
              <a:rPr sz="1100" b="0">
                <a:solidFill>
                  <a:srgbClr val="000000"/>
                </a:solidFill>
                <a:latin typeface="Pretendard"/>
                <a:ea typeface="Pretendard"/>
                <a:cs typeface="Pretendard"/>
              </a:rPr>
              <a:t>3개월마다 예측 연체율과 실제 연체율 비교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37959" y="2295144"/>
            <a:ext cx="5105095" cy="27432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2  </a:t>
            </a:r>
            <a:r>
              <a:rPr sz="1100" b="0">
                <a:solidFill>
                  <a:srgbClr val="000000"/>
                </a:solidFill>
                <a:latin typeface="Pretendard"/>
                <a:ea typeface="Pretendard"/>
                <a:cs typeface="Pretendard"/>
              </a:rPr>
              <a:t>차이가 기준 초과 시 모형 수정안 11종 성능 비교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37959" y="2624328"/>
            <a:ext cx="5105095" cy="27432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3  </a:t>
            </a:r>
            <a:r>
              <a:rPr sz="1100" b="0">
                <a:solidFill>
                  <a:srgbClr val="000000"/>
                </a:solidFill>
                <a:latin typeface="Pretendard"/>
                <a:ea typeface="Pretendard"/>
                <a:cs typeface="Pretendard"/>
              </a:rPr>
              <a:t>기준 통과안만 담당자 보고, 적용 여부는 담당자 결정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37959" y="3031045"/>
            <a:ext cx="5105095" cy="9525"/>
          </a:xfrm>
          <a:prstGeom prst="rect">
            <a:avLst/>
          </a:prstGeom>
          <a:solidFill>
            <a:srgbClr val="DDDD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537959" y="3154680"/>
            <a:ext cx="5105095" cy="2286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6B6B6B"/>
                </a:solidFill>
                <a:latin typeface="Pretendard Medium"/>
                <a:ea typeface="Pretendard Medium"/>
                <a:cs typeface="Pretendard Medium"/>
              </a:rPr>
              <a:t>성과  2015~2018년 자료로 3년간 운영 재현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37959" y="3456432"/>
            <a:ext cx="2377440" cy="41148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>
                <a:solidFill>
                  <a:srgbClr val="000000"/>
                </a:solidFill>
                <a:latin typeface="Pretendard"/>
                <a:ea typeface="Pretendard"/>
                <a:cs typeface="Pretendard"/>
              </a:rPr>
              <a:t>6개월 단축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961119" y="3474720"/>
            <a:ext cx="2681935" cy="64008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>
                <a:solidFill>
                  <a:srgbClr val="000000"/>
                </a:solidFill>
                <a:latin typeface="Pretendard SemiBold"/>
                <a:ea typeface="Pretendard SemiBold"/>
                <a:cs typeface="Pretendard SemiBold"/>
              </a:rPr>
              <a:t>연체율 차이 발견 시점</a:t>
            </a:r>
          </a:p>
          <a:p>
            <a:pPr algn="l">
              <a:lnSpc>
                <a:spcPct val="125000"/>
              </a:lnSpc>
            </a:pPr>
            <a:r>
              <a:rPr sz="9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대출 후 1년 시점 연체 결과 활용 (기존 2년)</a:t>
            </a:r>
          </a:p>
          <a:p>
            <a:pPr algn="l">
              <a:lnSpc>
                <a:spcPct val="125000"/>
              </a:lnSpc>
            </a:pPr>
            <a:r>
              <a:rPr sz="9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2016~2017년 사례 기준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37959" y="4206240"/>
            <a:ext cx="2377440" cy="41148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>
                <a:solidFill>
                  <a:srgbClr val="000000"/>
                </a:solidFill>
                <a:latin typeface="Pretendard"/>
                <a:ea typeface="Pretendard"/>
                <a:cs typeface="Pretendard"/>
              </a:rPr>
              <a:t>13%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961119" y="4224527"/>
            <a:ext cx="2681935" cy="64008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>
                <a:solidFill>
                  <a:srgbClr val="000000"/>
                </a:solidFill>
                <a:latin typeface="Pretendard SemiBold"/>
                <a:ea typeface="Pretendard SemiBold"/>
                <a:cs typeface="Pretendard SemiBold"/>
              </a:rPr>
              <a:t>수정안 적용 후 예측 연체율 오차</a:t>
            </a:r>
          </a:p>
          <a:p>
            <a:pPr algn="l">
              <a:lnSpc>
                <a:spcPct val="125000"/>
              </a:lnSpc>
            </a:pPr>
            <a:r>
              <a:rPr sz="9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적용 전 33% (상대 오차: 실제÷예측-1)</a:t>
            </a:r>
          </a:p>
          <a:p>
            <a:pPr algn="l">
              <a:lnSpc>
                <a:spcPct val="125000"/>
              </a:lnSpc>
            </a:pPr>
            <a:r>
              <a:rPr sz="9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2018년 1분기 보유 대출 46만 건 기준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37959" y="4956048"/>
            <a:ext cx="2377440" cy="41148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>
                <a:solidFill>
                  <a:srgbClr val="000000"/>
                </a:solidFill>
                <a:latin typeface="Pretendard"/>
                <a:ea typeface="Pretendard"/>
                <a:cs typeface="Pretendard"/>
              </a:rPr>
              <a:t>4회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961119" y="4974336"/>
            <a:ext cx="2681935" cy="64008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>
                <a:solidFill>
                  <a:srgbClr val="000000"/>
                </a:solidFill>
                <a:latin typeface="Pretendard SemiBold"/>
                <a:ea typeface="Pretendard SemiBold"/>
                <a:cs typeface="Pretendard SemiBold"/>
              </a:rPr>
              <a:t>3년간 모형 변경 횟수</a:t>
            </a:r>
          </a:p>
          <a:p>
            <a:pPr algn="l">
              <a:lnSpc>
                <a:spcPct val="125000"/>
              </a:lnSpc>
            </a:pPr>
            <a:r>
              <a:rPr sz="9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재학습 1, 예측치 조정 3</a:t>
            </a:r>
          </a:p>
          <a:p>
            <a:pPr algn="l">
              <a:lnSpc>
                <a:spcPct val="125000"/>
              </a:lnSpc>
            </a:pPr>
            <a:r>
              <a:rPr sz="9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3개월마다 재학습하는 방식 13회 대비</a:t>
            </a:r>
          </a:p>
          <a:p>
            <a:pPr algn="l">
              <a:lnSpc>
                <a:spcPct val="125000"/>
              </a:lnSpc>
            </a:pPr>
            <a:r>
              <a:rPr sz="9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평균 오차 19.4% 대비 17.3%</a:t>
            </a:r>
          </a:p>
        </p:txBody>
      </p:sp>
      <p:pic>
        <p:nvPicPr>
          <p:cNvPr id="21" name="Picture 20" descr="q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5486400"/>
            <a:ext cx="868680" cy="86868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1554479" y="5650992"/>
            <a:ext cx="4114800" cy="54864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1">
                <a:solidFill>
                  <a:srgbClr val="000000"/>
                </a:solidFill>
                <a:latin typeface="Pretendard"/>
                <a:ea typeface="Pretendard"/>
                <a:cs typeface="Pretendard"/>
              </a:rPr>
              <a:t>결과 화면 (시점별 점검 결과 확인)</a:t>
            </a:r>
          </a:p>
          <a:p>
            <a:pPr algn="l">
              <a:lnSpc>
                <a:spcPct val="130000"/>
              </a:lnSpc>
            </a:pPr>
            <a:r>
              <a:rPr sz="9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kjhoeakjy.github.io/csm-auto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37959" y="6291072"/>
            <a:ext cx="5105095" cy="36576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75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오차 개선은 2018년 1분기 단일 판단, 변경 횟수는 변경 승인 가정 3년 누적 운영 기준</a:t>
            </a:r>
          </a:p>
          <a:p>
            <a:pPr algn="l">
              <a:lnSpc>
                <a:spcPct val="120000"/>
              </a:lnSpc>
            </a:pPr>
            <a:r>
              <a:rPr sz="75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시점별 판단에 해당 시점까지의 정보만 사용. 실제 금융회사 운영 사례 아님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374</Words>
  <Application>Microsoft Office PowerPoint</Application>
  <PresentationFormat>와이드스크린</PresentationFormat>
  <Paragraphs>64</Paragraphs>
  <Slides>2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5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</vt:i4>
      </vt:variant>
    </vt:vector>
  </HeadingPairs>
  <TitlesOfParts>
    <vt:vector size="8" baseType="lpstr">
      <vt:lpstr>Pretendard SemiBold</vt:lpstr>
      <vt:lpstr>Pretendard</vt:lpstr>
      <vt:lpstr>Pretendard Medium</vt:lpstr>
      <vt:lpstr>Calibri</vt:lpstr>
      <vt:lpstr>Arial</vt:lpstr>
      <vt:lpstr>Office Theme</vt:lpstr>
      <vt:lpstr>PowerPoint 프레젠테이션</vt:lpstr>
      <vt:lpstr>PowerPoint 프레젠테이션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리스크 역량PT</dc:title>
  <dc:subject/>
  <dc:creator>김연주</dc:creator>
  <cp:keywords/>
  <dc:description>generated using python-pptx</dc:description>
  <cp:lastModifiedBy>연주 김</cp:lastModifiedBy>
  <cp:revision>2</cp:revision>
  <dcterms:created xsi:type="dcterms:W3CDTF">2013-01-27T09:14:16Z</dcterms:created>
  <dcterms:modified xsi:type="dcterms:W3CDTF">2026-10-22T09:19:04Z</dcterms:modified>
  <cp:category/>
</cp:coreProperties>
</file>