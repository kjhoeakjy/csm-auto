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4"/>
      <p:bold r:id="rId5"/>
    </p:embeddedFont>
    <p:embeddedFont>
      <p:font typeface="Pretendard Medium" panose="02000003000000020004" pitchFamily="2" charset="-127"/>
      <p:regular r:id="rId6"/>
    </p:embeddedFont>
    <p:embeddedFont>
      <p:font typeface="Pretendard SemiBold" panose="02000003000000020004" pitchFamily="2" charset="-127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54679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23659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3246120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434340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42531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968496"/>
            <a:ext cx="292608" cy="46634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1600200" y="1371600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2021.03 ~ 2025.08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618488"/>
            <a:ext cx="3424270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1600200" y="1700784"/>
            <a:ext cx="0" cy="1335024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138988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1481328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1536192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>
            <a:off x="1700784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2926080" y="1801368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2024.09 ~ 2024.12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048256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2926080" y="2130552"/>
            <a:ext cx="0" cy="905256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Oval 19"/>
          <p:cNvSpPr/>
          <p:nvPr/>
        </p:nvSpPr>
        <p:spPr>
          <a:xfrm>
            <a:off x="2715768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2825496" y="317296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2866644" y="3214115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2866644" y="324612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3689131" y="2231136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2025.01 ~ 2026.07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89131" y="2478024"/>
            <a:ext cx="3433729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3689131" y="2560320"/>
            <a:ext cx="0" cy="475488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7" name="Oval 26"/>
          <p:cNvSpPr/>
          <p:nvPr/>
        </p:nvSpPr>
        <p:spPr>
          <a:xfrm>
            <a:off x="3478819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606835" y="316839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Freeform 28"/>
          <p:cNvSpPr/>
          <p:nvPr/>
        </p:nvSpPr>
        <p:spPr>
          <a:xfrm>
            <a:off x="3588547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716563" y="317296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Freeform 30"/>
          <p:cNvSpPr/>
          <p:nvPr/>
        </p:nvSpPr>
        <p:spPr>
          <a:xfrm>
            <a:off x="3693703" y="3273551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233" y="2660904"/>
            <a:ext cx="594360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   2025.09 ~ 2027.02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5233" y="2907792"/>
            <a:ext cx="3242966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215233" y="2990088"/>
            <a:ext cx="0" cy="4572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35" name="Oval 34"/>
          <p:cNvSpPr/>
          <p:nvPr/>
        </p:nvSpPr>
        <p:spPr>
          <a:xfrm>
            <a:off x="5004921" y="303580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5096361" y="3163824"/>
            <a:ext cx="237744" cy="109727"/>
          </a:xfrm>
          <a:custGeom>
            <a:avLst/>
            <a:gdLst/>
            <a:ahLst/>
            <a:cxnLst/>
            <a:rect l="l" t="t" r="r" b="b"/>
            <a:pathLst>
              <a:path w="237744" h="109727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7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5151225" y="3246120"/>
            <a:ext cx="128016" cy="64007"/>
          </a:xfrm>
          <a:custGeom>
            <a:avLst/>
            <a:gdLst/>
            <a:ahLst/>
            <a:cxnLst/>
            <a:rect l="l" t="t" r="r" b="b"/>
            <a:pathLst>
              <a:path w="128016" h="64007">
                <a:moveTo>
                  <a:pt x="0" y="0"/>
                </a:moveTo>
                <a:lnTo>
                  <a:pt x="0" y="64007"/>
                </a:lnTo>
                <a:lnTo>
                  <a:pt x="128016" y="64007"/>
                </a:lnTo>
                <a:lnTo>
                  <a:pt x="128016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315817" y="3227832"/>
            <a:ext cx="0" cy="82295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6932097" y="3081528"/>
            <a:ext cx="572288" cy="82296"/>
          </a:xfrm>
          <a:prstGeom prst="rect">
            <a:avLst/>
          </a:prstGeom>
          <a:solidFill>
            <a:srgbClr val="D2D2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77538" y="3026664"/>
            <a:ext cx="1097280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BCG 인턴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60020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226314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292608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4" name="Connector 43"/>
          <p:cNvCxnSpPr/>
          <p:nvPr/>
        </p:nvCxnSpPr>
        <p:spPr>
          <a:xfrm>
            <a:off x="358902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425196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6" name="Connector 45"/>
          <p:cNvCxnSpPr/>
          <p:nvPr/>
        </p:nvCxnSpPr>
        <p:spPr>
          <a:xfrm>
            <a:off x="491490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557784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624078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6903720" y="450799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0" name="Connector 49"/>
          <p:cNvCxnSpPr/>
          <p:nvPr/>
        </p:nvCxnSpPr>
        <p:spPr>
          <a:xfrm>
            <a:off x="7566660" y="450799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51" name="Connector 50"/>
          <p:cNvCxnSpPr/>
          <p:nvPr/>
        </p:nvCxnSpPr>
        <p:spPr>
          <a:xfrm>
            <a:off x="8229600" y="450799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52" name="Oval 51"/>
          <p:cNvSpPr/>
          <p:nvPr/>
        </p:nvSpPr>
        <p:spPr>
          <a:xfrm>
            <a:off x="154533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563624" y="472744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54" name="Oval 53"/>
          <p:cNvSpPr/>
          <p:nvPr/>
        </p:nvSpPr>
        <p:spPr>
          <a:xfrm>
            <a:off x="22082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22656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56" name="Oval 55"/>
          <p:cNvSpPr/>
          <p:nvPr/>
        </p:nvSpPr>
        <p:spPr>
          <a:xfrm>
            <a:off x="287121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889504" y="586130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58" name="Oval 57"/>
          <p:cNvSpPr/>
          <p:nvPr/>
        </p:nvSpPr>
        <p:spPr>
          <a:xfrm>
            <a:off x="35341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552444" y="472744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60" name="Oval 59"/>
          <p:cNvSpPr/>
          <p:nvPr/>
        </p:nvSpPr>
        <p:spPr>
          <a:xfrm>
            <a:off x="419709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215384" y="529437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62" name="Oval 61"/>
          <p:cNvSpPr/>
          <p:nvPr/>
        </p:nvSpPr>
        <p:spPr>
          <a:xfrm>
            <a:off x="483717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878324" y="586130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64" name="Oval 63"/>
          <p:cNvSpPr/>
          <p:nvPr/>
        </p:nvSpPr>
        <p:spPr>
          <a:xfrm>
            <a:off x="552297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541264" y="472744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66" name="Oval 65"/>
          <p:cNvSpPr/>
          <p:nvPr/>
        </p:nvSpPr>
        <p:spPr>
          <a:xfrm>
            <a:off x="616305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204204" y="529437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8" name="Oval 67"/>
          <p:cNvSpPr/>
          <p:nvPr/>
        </p:nvSpPr>
        <p:spPr>
          <a:xfrm>
            <a:off x="6848856" y="437997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867144" y="586130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70" name="Oval 69"/>
          <p:cNvSpPr/>
          <p:nvPr/>
        </p:nvSpPr>
        <p:spPr>
          <a:xfrm>
            <a:off x="7488936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530084" y="472744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72" name="Oval 71"/>
          <p:cNvSpPr/>
          <p:nvPr/>
        </p:nvSpPr>
        <p:spPr>
          <a:xfrm>
            <a:off x="8151875" y="435711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193024" y="529437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74" name="Oval 73"/>
          <p:cNvSpPr/>
          <p:nvPr/>
        </p:nvSpPr>
        <p:spPr>
          <a:xfrm>
            <a:off x="8778240" y="352044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Freeform 74"/>
          <p:cNvSpPr/>
          <p:nvPr/>
        </p:nvSpPr>
        <p:spPr>
          <a:xfrm>
            <a:off x="8979407" y="379476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Freeform 75"/>
          <p:cNvSpPr/>
          <p:nvPr/>
        </p:nvSpPr>
        <p:spPr>
          <a:xfrm>
            <a:off x="9057132" y="374904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7" name="Connector 76"/>
          <p:cNvCxnSpPr/>
          <p:nvPr/>
        </p:nvCxnSpPr>
        <p:spPr>
          <a:xfrm>
            <a:off x="8979407" y="384962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78" name="TextBox 77"/>
          <p:cNvSpPr txBox="1"/>
          <p:nvPr/>
        </p:nvSpPr>
        <p:spPr>
          <a:xfrm>
            <a:off x="8823959" y="216712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418319" y="384048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80" name="Oval 79"/>
          <p:cNvSpPr/>
          <p:nvPr/>
        </p:nvSpPr>
        <p:spPr>
          <a:xfrm>
            <a:off x="10076688" y="3630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Freeform 80"/>
          <p:cNvSpPr/>
          <p:nvPr/>
        </p:nvSpPr>
        <p:spPr>
          <a:xfrm>
            <a:off x="10177272" y="376732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2" name="Connector 81"/>
          <p:cNvCxnSpPr/>
          <p:nvPr/>
        </p:nvCxnSpPr>
        <p:spPr>
          <a:xfrm>
            <a:off x="10177272" y="380847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83" name="Connector 82"/>
          <p:cNvCxnSpPr/>
          <p:nvPr/>
        </p:nvCxnSpPr>
        <p:spPr>
          <a:xfrm>
            <a:off x="10213848" y="387705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84" name="TextBox 83"/>
          <p:cNvSpPr txBox="1"/>
          <p:nvPr/>
        </p:nvSpPr>
        <p:spPr>
          <a:xfrm>
            <a:off x="10012680" y="416966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자동 점검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94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데이터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Lending Club 대출 226만 건 (2007~2018년)      </a:t>
            </a:r>
            <a:r>
              <a:rPr sz="100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</a:t>
            </a: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2010~2013년 상반기 대출 14만 건의 대출 조건, 소득, 신용 이력으로 학습한 LightGBM 모형 (2년 내 상각 확률 예측)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2869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55648"/>
            <a:ext cx="63093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38528"/>
            <a:ext cx="630936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신용평가모형의 예측 상각률과 실제 상각률 차이 확대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상각률: 대출 실행 후 2년 내 상환 중단 후 손실 처리 비율</a:t>
            </a:r>
          </a:p>
        </p:txBody>
      </p:sp>
      <p:pic>
        <p:nvPicPr>
          <p:cNvPr id="8" name="Picture 7" descr="cha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395728"/>
            <a:ext cx="6309360" cy="38757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289765"/>
            <a:ext cx="630936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판단 시점별 보유 대출의 실제 상각률과 예측 상각률 (갱신 승인 가정)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1755648"/>
            <a:ext cx="437357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작동 방식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1965960"/>
            <a:ext cx="43735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3개월마다 결과가 확정된 대출의 예측 상각률과 실제 상각률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295144"/>
            <a:ext cx="43735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차이가 기준 초과 시 모형 수정안 12종 성능 비교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624328"/>
            <a:ext cx="43735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 통과안 담당자 보고, 담당자가 적용 여부 결정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69480" y="3104197"/>
            <a:ext cx="437357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69480" y="3200400"/>
            <a:ext cx="437357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성과  2015~2018년 자료로 3년간 운영 재현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566160"/>
            <a:ext cx="1323746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상각률 이상 경고 시점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3840480"/>
            <a:ext cx="1323746" cy="7680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6개월 전</a:t>
            </a:r>
          </a:p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사전 예측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4718304"/>
            <a:ext cx="1323746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1년 차 실적으로 경고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기존 방식은 2년 차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실적 확인 후 경고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9047" y="3566160"/>
            <a:ext cx="9525" cy="192024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94394" y="3566160"/>
            <a:ext cx="1323746" cy="40233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모형 갱신 후 상각률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예측 오차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94394" y="4041648"/>
            <a:ext cx="1323746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4394" y="4535424"/>
            <a:ext cx="1323746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갱신 안 할 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예측 오차 33%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(2018년 4분기 기준)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13961" y="3566160"/>
            <a:ext cx="9525" cy="192024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319308" y="3566160"/>
            <a:ext cx="1323746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3년간 모형 갱신 횟수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19308" y="3840480"/>
            <a:ext cx="1323746" cy="38404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9308" y="4334256"/>
            <a:ext cx="1323746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3년 평균 예측 오차 9.5%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3개월마다 재학습 시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13회 갱신,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예측 오차 18.8%</a:t>
            </a:r>
          </a:p>
        </p:txBody>
      </p:sp>
      <p:pic>
        <p:nvPicPr>
          <p:cNvPr id="27" name="Picture 26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1535" y="384048"/>
            <a:ext cx="731520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985455" y="566928"/>
            <a:ext cx="278892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시뮬레이션 링크</a:t>
            </a:r>
          </a:p>
          <a:p>
            <a:pPr algn="r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5989320"/>
            <a:ext cx="4373575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판정 규칙과 모형 설정은 같은 기간 결과를 보고 정한 탐색 단계 결과입니다.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상각 시점은 마지막 납부월 기준 근사치입니다.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시점별 판단은 해당 시점까지 확정된 정보로 수행했습니다.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공개 자료 기반 과거 재현이며 실제 금융회사 운영 사례가 아닙니다.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366</Words>
  <Application>Microsoft Office PowerPoint</Application>
  <PresentationFormat>와이드스크린</PresentationFormat>
  <Paragraphs>73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Pretendard SemiBold</vt:lpstr>
      <vt:lpstr>Calibri</vt:lpstr>
      <vt:lpstr>Pretendard</vt:lpstr>
      <vt:lpstr>Pretendard Medium</vt:lpstr>
      <vt:lpstr>Arial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2026-10-23T05:35:24Z</dcterms:modified>
  <cp:category/>
</cp:coreProperties>
</file>