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6858000"/>
  <p:notesSz cx="6858000" cy="9144000"/>
  <p:embeddedFontLst>
    <p:embeddedFont>
      <p:font typeface="Pretendard" panose="02000003000000020004" pitchFamily="2" charset="-127"/>
      <p:regular r:id="rId5"/>
      <p:bold r:id="rId6"/>
    </p:embeddedFont>
    <p:embeddedFont>
      <p:font typeface="Pretendard Medium" panose="02000003000000020004" pitchFamily="2" charset="-127"/>
      <p:regular r:id="rId7"/>
    </p:embeddedFont>
    <p:embeddedFont>
      <p:font typeface="Pretendard SemiBold" panose="02000003000000020004" pitchFamily="2" charset="-127"/>
      <p:bold r:id="rId8"/>
    </p:embeddedFont>
    <p:embeddedFont>
      <p:font typeface="맑은 고딕" panose="020B0503020000020004" pitchFamily="50" charset="-127"/>
      <p:regular r:id="rId9"/>
      <p:bold r:id="rId10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4.fntdata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font" Target="fonts/font3.fntdata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2.fntdata"/><Relationship Id="rId11" Type="http://schemas.openxmlformats.org/officeDocument/2006/relationships/presProps" Target="presProps.xml"/><Relationship Id="rId5" Type="http://schemas.openxmlformats.org/officeDocument/2006/relationships/font" Target="fonts/font1.fntdata"/><Relationship Id="rId10" Type="http://schemas.openxmlformats.org/officeDocument/2006/relationships/font" Target="fonts/font6.fntdata"/><Relationship Id="rId4" Type="http://schemas.openxmlformats.org/officeDocument/2006/relationships/notesMaster" Target="notesMasters/notesMaster1.xml"/><Relationship Id="rId9" Type="http://schemas.openxmlformats.org/officeDocument/2006/relationships/font" Target="fonts/font5.fntdata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09FF3C9-5004-495D-9F28-18ED95FD2F2B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AE9C64-59EB-4D8A-ACEB-ED5DCDD6D10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30727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566928"/>
            <a:ext cx="11094415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Experience Timeline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3957"/>
            <a:ext cx="11094415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2423160"/>
            <a:ext cx="731520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학업, 경험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2505075"/>
            <a:ext cx="7178040" cy="190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" name="Connector 5"/>
          <p:cNvCxnSpPr/>
          <p:nvPr/>
        </p:nvCxnSpPr>
        <p:spPr>
          <a:xfrm>
            <a:off x="8549640" y="2514600"/>
            <a:ext cx="292608" cy="557784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7" name="TextBox 6"/>
          <p:cNvSpPr txBox="1"/>
          <p:nvPr/>
        </p:nvSpPr>
        <p:spPr>
          <a:xfrm>
            <a:off x="548640" y="3794760"/>
            <a:ext cx="731520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프로젝트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3876675"/>
            <a:ext cx="7178040" cy="190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" name="Connector 8"/>
          <p:cNvCxnSpPr/>
          <p:nvPr/>
        </p:nvCxnSpPr>
        <p:spPr>
          <a:xfrm flipV="1">
            <a:off x="8549640" y="3328416"/>
            <a:ext cx="292608" cy="557784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1618488" y="230428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Freeform 10"/>
          <p:cNvSpPr/>
          <p:nvPr/>
        </p:nvSpPr>
        <p:spPr>
          <a:xfrm>
            <a:off x="1709928" y="2432304"/>
            <a:ext cx="237744" cy="109728"/>
          </a:xfrm>
          <a:custGeom>
            <a:avLst/>
            <a:gdLst/>
            <a:ahLst/>
            <a:cxnLst/>
            <a:rect l="l" t="t" r="r" b="b"/>
            <a:pathLst>
              <a:path w="237744" h="109728">
                <a:moveTo>
                  <a:pt x="0" y="54864"/>
                </a:moveTo>
                <a:lnTo>
                  <a:pt x="118872" y="0"/>
                </a:lnTo>
                <a:lnTo>
                  <a:pt x="237744" y="54864"/>
                </a:lnTo>
                <a:lnTo>
                  <a:pt x="118872" y="109728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Freeform 11"/>
          <p:cNvSpPr/>
          <p:nvPr/>
        </p:nvSpPr>
        <p:spPr>
          <a:xfrm>
            <a:off x="1764792" y="2514600"/>
            <a:ext cx="128015" cy="64008"/>
          </a:xfrm>
          <a:custGeom>
            <a:avLst/>
            <a:gdLst/>
            <a:ahLst/>
            <a:cxnLst/>
            <a:rect l="l" t="t" r="r" b="b"/>
            <a:pathLst>
              <a:path w="128015" h="64008">
                <a:moveTo>
                  <a:pt x="0" y="0"/>
                </a:moveTo>
                <a:lnTo>
                  <a:pt x="0" y="64008"/>
                </a:lnTo>
                <a:lnTo>
                  <a:pt x="128015" y="64008"/>
                </a:lnTo>
                <a:lnTo>
                  <a:pt x="128015" y="0"/>
                </a:lnTo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3" name="Connector 12"/>
          <p:cNvCxnSpPr/>
          <p:nvPr/>
        </p:nvCxnSpPr>
        <p:spPr>
          <a:xfrm>
            <a:off x="1929384" y="2496312"/>
            <a:ext cx="0" cy="82296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14" name="TextBox 13"/>
          <p:cNvSpPr txBox="1"/>
          <p:nvPr/>
        </p:nvSpPr>
        <p:spPr>
          <a:xfrm>
            <a:off x="1618488" y="1435608"/>
            <a:ext cx="2011680" cy="6583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통계학 학사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통계적 추론과 모델링</a:t>
            </a:r>
          </a:p>
          <a:p>
            <a:pPr algn="l">
              <a:lnSpc>
                <a:spcPct val="130000"/>
              </a:lnSpc>
            </a:pP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2021.03 ~ 2025.08</a:t>
            </a:r>
          </a:p>
        </p:txBody>
      </p:sp>
      <p:sp>
        <p:nvSpPr>
          <p:cNvPr id="15" name="Oval 14"/>
          <p:cNvSpPr/>
          <p:nvPr/>
        </p:nvSpPr>
        <p:spPr>
          <a:xfrm>
            <a:off x="3447288" y="230428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Freeform 15"/>
          <p:cNvSpPr/>
          <p:nvPr/>
        </p:nvSpPr>
        <p:spPr>
          <a:xfrm>
            <a:off x="3557016" y="2441448"/>
            <a:ext cx="201168" cy="164592"/>
          </a:xfrm>
          <a:custGeom>
            <a:avLst/>
            <a:gdLst/>
            <a:ahLst/>
            <a:cxnLst/>
            <a:rect l="l" t="t" r="r" b="b"/>
            <a:pathLst>
              <a:path w="201168" h="164592">
                <a:moveTo>
                  <a:pt x="0" y="0"/>
                </a:moveTo>
                <a:lnTo>
                  <a:pt x="201168" y="0"/>
                </a:lnTo>
                <a:lnTo>
                  <a:pt x="201168" y="109728"/>
                </a:lnTo>
                <a:lnTo>
                  <a:pt x="82296" y="109728"/>
                </a:lnTo>
                <a:lnTo>
                  <a:pt x="36576" y="164592"/>
                </a:lnTo>
                <a:lnTo>
                  <a:pt x="45720" y="109728"/>
                </a:lnTo>
                <a:lnTo>
                  <a:pt x="0" y="109728"/>
                </a:lnTo>
                <a:close/>
              </a:path>
            </a:pathLst>
          </a:cu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7" name="Connector 16"/>
          <p:cNvCxnSpPr/>
          <p:nvPr/>
        </p:nvCxnSpPr>
        <p:spPr>
          <a:xfrm>
            <a:off x="3598164" y="2482596"/>
            <a:ext cx="118872" cy="0"/>
          </a:xfrm>
          <a:prstGeom prst="line">
            <a:avLst/>
          </a:prstGeom>
          <a:ln w="11430">
            <a:solidFill>
              <a:srgbClr val="000000"/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3598164" y="2514600"/>
            <a:ext cx="118872" cy="0"/>
          </a:xfrm>
          <a:prstGeom prst="line">
            <a:avLst/>
          </a:prstGeom>
          <a:ln w="11430">
            <a:solidFill>
              <a:srgbClr val="000000"/>
            </a:solidFill>
          </a:ln>
        </p:spPr>
      </p:cxnSp>
      <p:sp>
        <p:nvSpPr>
          <p:cNvPr id="19" name="TextBox 18"/>
          <p:cNvSpPr txBox="1"/>
          <p:nvPr/>
        </p:nvSpPr>
        <p:spPr>
          <a:xfrm>
            <a:off x="3447288" y="1435608"/>
            <a:ext cx="2011680" cy="6583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외국인 학생 멘토링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통계학 전공 학업 지원</a:t>
            </a:r>
          </a:p>
          <a:p>
            <a:pPr algn="l">
              <a:lnSpc>
                <a:spcPct val="130000"/>
              </a:lnSpc>
            </a:pP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2024.09 ~ 2024.12</a:t>
            </a:r>
          </a:p>
        </p:txBody>
      </p:sp>
      <p:sp>
        <p:nvSpPr>
          <p:cNvPr id="20" name="Oval 19"/>
          <p:cNvSpPr/>
          <p:nvPr/>
        </p:nvSpPr>
        <p:spPr>
          <a:xfrm>
            <a:off x="5276088" y="230428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5404104" y="2436876"/>
            <a:ext cx="64008" cy="6400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Freeform 21"/>
          <p:cNvSpPr/>
          <p:nvPr/>
        </p:nvSpPr>
        <p:spPr>
          <a:xfrm>
            <a:off x="5385816" y="2542032"/>
            <a:ext cx="100584" cy="54864"/>
          </a:xfrm>
          <a:custGeom>
            <a:avLst/>
            <a:gdLst/>
            <a:ahLst/>
            <a:cxnLst/>
            <a:rect l="l" t="t" r="r" b="b"/>
            <a:pathLst>
              <a:path w="100584" h="54864">
                <a:moveTo>
                  <a:pt x="0" y="54864"/>
                </a:moveTo>
                <a:lnTo>
                  <a:pt x="9144" y="0"/>
                </a:lnTo>
                <a:lnTo>
                  <a:pt x="91440" y="0"/>
                </a:lnTo>
                <a:lnTo>
                  <a:pt x="100584" y="54864"/>
                </a:lnTo>
              </a:path>
            </a:pathLst>
          </a:cu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5513831" y="2441448"/>
            <a:ext cx="54864" cy="5486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Freeform 23"/>
          <p:cNvSpPr/>
          <p:nvPr/>
        </p:nvSpPr>
        <p:spPr>
          <a:xfrm>
            <a:off x="5490972" y="2542032"/>
            <a:ext cx="100583" cy="54864"/>
          </a:xfrm>
          <a:custGeom>
            <a:avLst/>
            <a:gdLst/>
            <a:ahLst/>
            <a:cxnLst/>
            <a:rect l="l" t="t" r="r" b="b"/>
            <a:pathLst>
              <a:path w="100583" h="54864">
                <a:moveTo>
                  <a:pt x="0" y="54864"/>
                </a:moveTo>
                <a:lnTo>
                  <a:pt x="9144" y="0"/>
                </a:lnTo>
                <a:lnTo>
                  <a:pt x="91440" y="0"/>
                </a:lnTo>
                <a:lnTo>
                  <a:pt x="100583" y="54864"/>
                </a:lnTo>
              </a:path>
            </a:pathLst>
          </a:custGeom>
          <a:noFill/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276088" y="1435608"/>
            <a:ext cx="2011680" cy="8778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인공지능 학회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학회장, 운영팀장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스터디 진행, 프로젝트 진행</a:t>
            </a:r>
          </a:p>
          <a:p>
            <a:pPr algn="l">
              <a:lnSpc>
                <a:spcPct val="130000"/>
              </a:lnSpc>
            </a:pP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2025.01 ~ 2026.07</a:t>
            </a:r>
          </a:p>
        </p:txBody>
      </p:sp>
      <p:sp>
        <p:nvSpPr>
          <p:cNvPr id="26" name="Oval 25"/>
          <p:cNvSpPr/>
          <p:nvPr/>
        </p:nvSpPr>
        <p:spPr>
          <a:xfrm>
            <a:off x="7196327" y="230428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Freeform 26"/>
          <p:cNvSpPr/>
          <p:nvPr/>
        </p:nvSpPr>
        <p:spPr>
          <a:xfrm>
            <a:off x="7287768" y="2432304"/>
            <a:ext cx="237744" cy="109728"/>
          </a:xfrm>
          <a:custGeom>
            <a:avLst/>
            <a:gdLst/>
            <a:ahLst/>
            <a:cxnLst/>
            <a:rect l="l" t="t" r="r" b="b"/>
            <a:pathLst>
              <a:path w="237744" h="109728">
                <a:moveTo>
                  <a:pt x="0" y="54864"/>
                </a:moveTo>
                <a:lnTo>
                  <a:pt x="118872" y="0"/>
                </a:lnTo>
                <a:lnTo>
                  <a:pt x="237744" y="54864"/>
                </a:lnTo>
                <a:lnTo>
                  <a:pt x="118872" y="109728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Freeform 27"/>
          <p:cNvSpPr/>
          <p:nvPr/>
        </p:nvSpPr>
        <p:spPr>
          <a:xfrm>
            <a:off x="7342631" y="2514600"/>
            <a:ext cx="128017" cy="64008"/>
          </a:xfrm>
          <a:custGeom>
            <a:avLst/>
            <a:gdLst/>
            <a:ahLst/>
            <a:cxnLst/>
            <a:rect l="l" t="t" r="r" b="b"/>
            <a:pathLst>
              <a:path w="128017" h="64008">
                <a:moveTo>
                  <a:pt x="0" y="0"/>
                </a:moveTo>
                <a:lnTo>
                  <a:pt x="0" y="64008"/>
                </a:lnTo>
                <a:lnTo>
                  <a:pt x="128017" y="64008"/>
                </a:lnTo>
                <a:lnTo>
                  <a:pt x="128017" y="0"/>
                </a:lnTo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9" name="Connector 28"/>
          <p:cNvCxnSpPr/>
          <p:nvPr/>
        </p:nvCxnSpPr>
        <p:spPr>
          <a:xfrm>
            <a:off x="7507223" y="2496312"/>
            <a:ext cx="0" cy="82296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30" name="TextBox 29"/>
          <p:cNvSpPr txBox="1"/>
          <p:nvPr/>
        </p:nvSpPr>
        <p:spPr>
          <a:xfrm>
            <a:off x="7196327" y="1435608"/>
            <a:ext cx="2011680" cy="6583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통계학 석사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딥러닝</a:t>
            </a:r>
          </a:p>
          <a:p>
            <a:pPr algn="l">
              <a:lnSpc>
                <a:spcPct val="130000"/>
              </a:lnSpc>
            </a:pP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2025.09 ~ 2027.02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600200" y="395935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32" name="Connector 31"/>
          <p:cNvCxnSpPr/>
          <p:nvPr/>
        </p:nvCxnSpPr>
        <p:spPr>
          <a:xfrm>
            <a:off x="2263140" y="395935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33" name="Connector 32"/>
          <p:cNvCxnSpPr/>
          <p:nvPr/>
        </p:nvCxnSpPr>
        <p:spPr>
          <a:xfrm>
            <a:off x="2926080" y="3959352"/>
            <a:ext cx="0" cy="1371600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3589020" y="395935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4251960" y="395935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36" name="Connector 35"/>
          <p:cNvCxnSpPr/>
          <p:nvPr/>
        </p:nvCxnSpPr>
        <p:spPr>
          <a:xfrm>
            <a:off x="4914900" y="3959352"/>
            <a:ext cx="0" cy="1371600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37" name="Connector 36"/>
          <p:cNvCxnSpPr/>
          <p:nvPr/>
        </p:nvCxnSpPr>
        <p:spPr>
          <a:xfrm>
            <a:off x="5577840" y="395935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38" name="Connector 37"/>
          <p:cNvCxnSpPr/>
          <p:nvPr/>
        </p:nvCxnSpPr>
        <p:spPr>
          <a:xfrm>
            <a:off x="6240780" y="395935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39" name="Connector 38"/>
          <p:cNvCxnSpPr/>
          <p:nvPr/>
        </p:nvCxnSpPr>
        <p:spPr>
          <a:xfrm>
            <a:off x="6903720" y="3959352"/>
            <a:ext cx="0" cy="1371600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0" name="Connector 39"/>
          <p:cNvCxnSpPr/>
          <p:nvPr/>
        </p:nvCxnSpPr>
        <p:spPr>
          <a:xfrm>
            <a:off x="7566660" y="3959352"/>
            <a:ext cx="0" cy="237744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cxnSp>
        <p:nvCxnSpPr>
          <p:cNvPr id="41" name="Connector 40"/>
          <p:cNvCxnSpPr/>
          <p:nvPr/>
        </p:nvCxnSpPr>
        <p:spPr>
          <a:xfrm>
            <a:off x="8229600" y="3959352"/>
            <a:ext cx="0" cy="804672"/>
          </a:xfrm>
          <a:prstGeom prst="line">
            <a:avLst/>
          </a:prstGeom>
          <a:ln w="7620">
            <a:solidFill>
              <a:srgbClr val="9A9A9A"/>
            </a:solidFill>
          </a:ln>
        </p:spPr>
      </p:cxnSp>
      <p:sp>
        <p:nvSpPr>
          <p:cNvPr id="42" name="Oval 41"/>
          <p:cNvSpPr/>
          <p:nvPr/>
        </p:nvSpPr>
        <p:spPr>
          <a:xfrm>
            <a:off x="1545336" y="383133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1563624" y="4178808"/>
            <a:ext cx="1393728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저해상도 조류 이미지 분류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2025.01 ~ 2025.03</a:t>
            </a:r>
          </a:p>
        </p:txBody>
      </p:sp>
      <p:sp>
        <p:nvSpPr>
          <p:cNvPr id="44" name="Oval 43"/>
          <p:cNvSpPr/>
          <p:nvPr/>
        </p:nvSpPr>
        <p:spPr>
          <a:xfrm>
            <a:off x="2208276" y="383133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2226564" y="4745736"/>
            <a:ext cx="1393728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오늘의집 리뷰 요약 시스템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2025.03 ~ 2025.08</a:t>
            </a:r>
          </a:p>
        </p:txBody>
      </p:sp>
      <p:sp>
        <p:nvSpPr>
          <p:cNvPr id="46" name="Oval 45"/>
          <p:cNvSpPr/>
          <p:nvPr/>
        </p:nvSpPr>
        <p:spPr>
          <a:xfrm>
            <a:off x="2871216" y="383133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2889504" y="5312664"/>
            <a:ext cx="1302014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AutoML 이미지 분류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2025.05</a:t>
            </a:r>
          </a:p>
        </p:txBody>
      </p:sp>
      <p:sp>
        <p:nvSpPr>
          <p:cNvPr id="48" name="Oval 47"/>
          <p:cNvSpPr/>
          <p:nvPr/>
        </p:nvSpPr>
        <p:spPr>
          <a:xfrm>
            <a:off x="3534156" y="383133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3552444" y="4178808"/>
            <a:ext cx="1760585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담낭암 생존분석 연구 (대형병원)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2025.06 ~ 2025.08</a:t>
            </a:r>
          </a:p>
        </p:txBody>
      </p:sp>
      <p:sp>
        <p:nvSpPr>
          <p:cNvPr id="50" name="Oval 49"/>
          <p:cNvSpPr/>
          <p:nvPr/>
        </p:nvSpPr>
        <p:spPr>
          <a:xfrm>
            <a:off x="4197096" y="383133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4215384" y="4745736"/>
            <a:ext cx="1393728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시각장애인용 피부질환 예측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2025.07</a:t>
            </a:r>
          </a:p>
        </p:txBody>
      </p:sp>
      <p:sp>
        <p:nvSpPr>
          <p:cNvPr id="52" name="Oval 51"/>
          <p:cNvSpPr/>
          <p:nvPr/>
        </p:nvSpPr>
        <p:spPr>
          <a:xfrm>
            <a:off x="4837176" y="3808476"/>
            <a:ext cx="155448" cy="15544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4878324" y="5312664"/>
            <a:ext cx="1242669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환헤지 멀티에이전트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2025.07 ~ 2025.12</a:t>
            </a:r>
          </a:p>
        </p:txBody>
      </p:sp>
      <p:sp>
        <p:nvSpPr>
          <p:cNvPr id="54" name="Oval 53"/>
          <p:cNvSpPr/>
          <p:nvPr/>
        </p:nvSpPr>
        <p:spPr>
          <a:xfrm>
            <a:off x="5522976" y="383133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5541264" y="4178808"/>
            <a:ext cx="1210299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건물별 전력사용량 예측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2025.08 ~ 2025.09</a:t>
            </a:r>
          </a:p>
        </p:txBody>
      </p:sp>
      <p:sp>
        <p:nvSpPr>
          <p:cNvPr id="56" name="Oval 55"/>
          <p:cNvSpPr/>
          <p:nvPr/>
        </p:nvSpPr>
        <p:spPr>
          <a:xfrm>
            <a:off x="6163056" y="3808476"/>
            <a:ext cx="155448" cy="15544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6204204" y="4745736"/>
            <a:ext cx="1695846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3D 의료 파운데이션 모델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2025.09 ~ 2026.02</a:t>
            </a:r>
          </a:p>
        </p:txBody>
      </p:sp>
      <p:sp>
        <p:nvSpPr>
          <p:cNvPr id="58" name="Oval 57"/>
          <p:cNvSpPr/>
          <p:nvPr/>
        </p:nvSpPr>
        <p:spPr>
          <a:xfrm>
            <a:off x="6848856" y="3831336"/>
            <a:ext cx="109728" cy="10972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6867144" y="5312664"/>
            <a:ext cx="1577157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000000"/>
                </a:solidFill>
                <a:latin typeface="Pretendard SemiBold"/>
                <a:ea typeface="Pretendard SemiBold"/>
                <a:cs typeface="Pretendard SemiBold"/>
              </a:rPr>
              <a:t>의료 데이터 다변량 평균 비교</a:t>
            </a:r>
          </a:p>
          <a:p>
            <a:pPr algn="l">
              <a:lnSpc>
                <a:spcPct val="120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2025.10</a:t>
            </a:r>
          </a:p>
        </p:txBody>
      </p:sp>
      <p:sp>
        <p:nvSpPr>
          <p:cNvPr id="60" name="Oval 59"/>
          <p:cNvSpPr/>
          <p:nvPr/>
        </p:nvSpPr>
        <p:spPr>
          <a:xfrm>
            <a:off x="7488936" y="3808476"/>
            <a:ext cx="155448" cy="15544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7530084" y="4178808"/>
            <a:ext cx="1469257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확률론 시험 자동 채점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2026.02 ~ 2026.03</a:t>
            </a:r>
          </a:p>
        </p:txBody>
      </p:sp>
      <p:sp>
        <p:nvSpPr>
          <p:cNvPr id="62" name="Oval 61"/>
          <p:cNvSpPr/>
          <p:nvPr/>
        </p:nvSpPr>
        <p:spPr>
          <a:xfrm>
            <a:off x="8151875" y="3808476"/>
            <a:ext cx="155448" cy="15544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8193024" y="4745736"/>
            <a:ext cx="2149022" cy="411480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자율주행 ODD 위험평가 에이전트</a:t>
            </a:r>
          </a:p>
          <a:p>
            <a:pPr algn="l">
              <a:lnSpc>
                <a:spcPct val="120000"/>
              </a:lnSpc>
            </a:pPr>
            <a:r>
              <a:rPr sz="8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2026.05 ~ 2026.06</a:t>
            </a:r>
          </a:p>
        </p:txBody>
      </p:sp>
      <p:sp>
        <p:nvSpPr>
          <p:cNvPr id="64" name="Oval 63"/>
          <p:cNvSpPr/>
          <p:nvPr/>
        </p:nvSpPr>
        <p:spPr>
          <a:xfrm>
            <a:off x="8778240" y="2880360"/>
            <a:ext cx="640080" cy="640080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Freeform 64"/>
          <p:cNvSpPr/>
          <p:nvPr/>
        </p:nvSpPr>
        <p:spPr>
          <a:xfrm>
            <a:off x="8979407" y="3154680"/>
            <a:ext cx="237745" cy="137160"/>
          </a:xfrm>
          <a:custGeom>
            <a:avLst/>
            <a:gdLst/>
            <a:ahLst/>
            <a:cxnLst/>
            <a:rect l="l" t="t" r="r" b="b"/>
            <a:pathLst>
              <a:path w="237745" h="137160">
                <a:moveTo>
                  <a:pt x="0" y="0"/>
                </a:moveTo>
                <a:lnTo>
                  <a:pt x="237745" y="0"/>
                </a:lnTo>
                <a:lnTo>
                  <a:pt x="237745" y="137160"/>
                </a:lnTo>
                <a:lnTo>
                  <a:pt x="0" y="137160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Freeform 65"/>
          <p:cNvSpPr/>
          <p:nvPr/>
        </p:nvSpPr>
        <p:spPr>
          <a:xfrm>
            <a:off x="9057132" y="3108960"/>
            <a:ext cx="82296" cy="45720"/>
          </a:xfrm>
          <a:custGeom>
            <a:avLst/>
            <a:gdLst/>
            <a:ahLst/>
            <a:cxnLst/>
            <a:rect l="l" t="t" r="r" b="b"/>
            <a:pathLst>
              <a:path w="82296" h="45720">
                <a:moveTo>
                  <a:pt x="0" y="45720"/>
                </a:moveTo>
                <a:lnTo>
                  <a:pt x="0" y="0"/>
                </a:lnTo>
                <a:lnTo>
                  <a:pt x="82296" y="0"/>
                </a:lnTo>
                <a:lnTo>
                  <a:pt x="82296" y="45720"/>
                </a:lnTo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7" name="Connector 66"/>
          <p:cNvCxnSpPr/>
          <p:nvPr/>
        </p:nvCxnSpPr>
        <p:spPr>
          <a:xfrm>
            <a:off x="8979407" y="3209544"/>
            <a:ext cx="237745" cy="0"/>
          </a:xfrm>
          <a:prstGeom prst="line">
            <a:avLst/>
          </a:prstGeom>
          <a:ln w="12700">
            <a:solidFill>
              <a:srgbClr val="FFFFFF"/>
            </a:solidFill>
          </a:ln>
        </p:spPr>
      </p:cxnSp>
      <p:sp>
        <p:nvSpPr>
          <p:cNvPr id="68" name="TextBox 67"/>
          <p:cNvSpPr txBox="1"/>
          <p:nvPr/>
        </p:nvSpPr>
        <p:spPr>
          <a:xfrm>
            <a:off x="8778240" y="2240280"/>
            <a:ext cx="1828800" cy="6400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BCG 인턴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실제 산업 현장에서의 모델링</a:t>
            </a:r>
          </a:p>
          <a:p>
            <a:pPr algn="l">
              <a:lnSpc>
                <a:spcPct val="130000"/>
              </a:lnSpc>
            </a:pP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2026.06 ~ 2026.09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9418319" y="3200400"/>
            <a:ext cx="658369" cy="0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70" name="Oval 69"/>
          <p:cNvSpPr/>
          <p:nvPr/>
        </p:nvSpPr>
        <p:spPr>
          <a:xfrm>
            <a:off x="10076688" y="299008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Freeform 70"/>
          <p:cNvSpPr/>
          <p:nvPr/>
        </p:nvSpPr>
        <p:spPr>
          <a:xfrm>
            <a:off x="10177272" y="3127248"/>
            <a:ext cx="219456" cy="146304"/>
          </a:xfrm>
          <a:custGeom>
            <a:avLst/>
            <a:gdLst/>
            <a:ahLst/>
            <a:cxnLst/>
            <a:rect l="l" t="t" r="r" b="b"/>
            <a:pathLst>
              <a:path w="219456" h="146304">
                <a:moveTo>
                  <a:pt x="0" y="0"/>
                </a:moveTo>
                <a:lnTo>
                  <a:pt x="219456" y="0"/>
                </a:lnTo>
                <a:lnTo>
                  <a:pt x="219456" y="146304"/>
                </a:lnTo>
                <a:lnTo>
                  <a:pt x="0" y="146304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2" name="Connector 71"/>
          <p:cNvCxnSpPr/>
          <p:nvPr/>
        </p:nvCxnSpPr>
        <p:spPr>
          <a:xfrm>
            <a:off x="10177272" y="3168396"/>
            <a:ext cx="219456" cy="0"/>
          </a:xfrm>
          <a:prstGeom prst="line">
            <a:avLst/>
          </a:prstGeom>
          <a:ln w="25400">
            <a:solidFill>
              <a:srgbClr val="000000"/>
            </a:solidFill>
          </a:ln>
        </p:spPr>
      </p:cxnSp>
      <p:cxnSp>
        <p:nvCxnSpPr>
          <p:cNvPr id="73" name="Connector 72"/>
          <p:cNvCxnSpPr/>
          <p:nvPr/>
        </p:nvCxnSpPr>
        <p:spPr>
          <a:xfrm>
            <a:off x="10213848" y="3236976"/>
            <a:ext cx="54864" cy="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74" name="TextBox 73"/>
          <p:cNvSpPr txBox="1"/>
          <p:nvPr/>
        </p:nvSpPr>
        <p:spPr>
          <a:xfrm>
            <a:off x="10012680" y="3529584"/>
            <a:ext cx="163037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현대카드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566928"/>
            <a:ext cx="11094415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02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9441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신용평가모형 운영 자동화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76565"/>
            <a:ext cx="11094415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609344"/>
            <a:ext cx="2224963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A9A9A"/>
                </a:solidFill>
                <a:latin typeface="Pretendard Medium"/>
                <a:ea typeface="Pretendard Medium"/>
                <a:cs typeface="Pretendard Medium"/>
              </a:rPr>
              <a:t>1  </a:t>
            </a:r>
            <a:r>
              <a:rPr sz="12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정기 실행</a:t>
            </a:r>
          </a:p>
        </p:txBody>
      </p:sp>
      <p:sp>
        <p:nvSpPr>
          <p:cNvPr id="6" name="Freeform 5"/>
          <p:cNvSpPr/>
          <p:nvPr/>
        </p:nvSpPr>
        <p:spPr>
          <a:xfrm>
            <a:off x="2828467" y="1645920"/>
            <a:ext cx="73152" cy="146304"/>
          </a:xfrm>
          <a:custGeom>
            <a:avLst/>
            <a:gdLst/>
            <a:ahLst/>
            <a:cxnLst/>
            <a:rect l="l" t="t" r="r" b="b"/>
            <a:pathLst>
              <a:path w="73152" h="146304">
                <a:moveTo>
                  <a:pt x="0" y="0"/>
                </a:moveTo>
                <a:lnTo>
                  <a:pt x="73152" y="73152"/>
                </a:lnTo>
                <a:lnTo>
                  <a:pt x="0" y="146304"/>
                </a:lnTo>
              </a:path>
            </a:pathLst>
          </a:custGeom>
          <a:noFill/>
          <a:ln w="1270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011347" y="1609344"/>
            <a:ext cx="2224963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A9A9A"/>
                </a:solidFill>
                <a:latin typeface="Pretendard Medium"/>
                <a:ea typeface="Pretendard Medium"/>
                <a:cs typeface="Pretendard Medium"/>
              </a:rPr>
              <a:t>2  </a:t>
            </a:r>
            <a:r>
              <a:rPr sz="12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점검</a:t>
            </a:r>
          </a:p>
        </p:txBody>
      </p:sp>
      <p:sp>
        <p:nvSpPr>
          <p:cNvPr id="8" name="Freeform 7"/>
          <p:cNvSpPr/>
          <p:nvPr/>
        </p:nvSpPr>
        <p:spPr>
          <a:xfrm>
            <a:off x="5236311" y="1645920"/>
            <a:ext cx="73152" cy="146304"/>
          </a:xfrm>
          <a:custGeom>
            <a:avLst/>
            <a:gdLst/>
            <a:ahLst/>
            <a:cxnLst/>
            <a:rect l="l" t="t" r="r" b="b"/>
            <a:pathLst>
              <a:path w="73152" h="146304">
                <a:moveTo>
                  <a:pt x="0" y="0"/>
                </a:moveTo>
                <a:lnTo>
                  <a:pt x="73152" y="73152"/>
                </a:lnTo>
                <a:lnTo>
                  <a:pt x="0" y="146304"/>
                </a:lnTo>
              </a:path>
            </a:pathLst>
          </a:custGeom>
          <a:noFill/>
          <a:ln w="1270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19191" y="1609344"/>
            <a:ext cx="2224963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A9A9A"/>
                </a:solidFill>
                <a:latin typeface="Pretendard Medium"/>
                <a:ea typeface="Pretendard Medium"/>
                <a:cs typeface="Pretendard Medium"/>
              </a:rPr>
              <a:t>3  </a:t>
            </a:r>
            <a:r>
              <a:rPr sz="12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개선안 검증</a:t>
            </a:r>
          </a:p>
        </p:txBody>
      </p:sp>
      <p:sp>
        <p:nvSpPr>
          <p:cNvPr id="10" name="Freeform 9"/>
          <p:cNvSpPr/>
          <p:nvPr/>
        </p:nvSpPr>
        <p:spPr>
          <a:xfrm>
            <a:off x="7644155" y="1645920"/>
            <a:ext cx="73152" cy="146304"/>
          </a:xfrm>
          <a:custGeom>
            <a:avLst/>
            <a:gdLst/>
            <a:ahLst/>
            <a:cxnLst/>
            <a:rect l="l" t="t" r="r" b="b"/>
            <a:pathLst>
              <a:path w="73152" h="146304">
                <a:moveTo>
                  <a:pt x="0" y="0"/>
                </a:moveTo>
                <a:lnTo>
                  <a:pt x="73152" y="73152"/>
                </a:lnTo>
                <a:lnTo>
                  <a:pt x="0" y="146304"/>
                </a:lnTo>
              </a:path>
            </a:pathLst>
          </a:custGeom>
          <a:noFill/>
          <a:ln w="1270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827035" y="1609344"/>
            <a:ext cx="2224963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A9A9A"/>
                </a:solidFill>
                <a:latin typeface="Pretendard Medium"/>
                <a:ea typeface="Pretendard Medium"/>
                <a:cs typeface="Pretendard Medium"/>
              </a:rPr>
              <a:t>4  </a:t>
            </a:r>
            <a:r>
              <a:rPr sz="12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보고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88575" y="1636776"/>
            <a:ext cx="1554480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모형 변경은 담당자 승인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006917"/>
            <a:ext cx="1109441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app_c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212848"/>
            <a:ext cx="6400800" cy="3561265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548640" y="5819833"/>
            <a:ext cx="6400800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2018년 1분기 판단 화면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2212848"/>
            <a:ext cx="4236415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이상 감지 시점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6640" y="2450591"/>
            <a:ext cx="4236415" cy="5029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2분기 앞당김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6640" y="3035808"/>
            <a:ext cx="4236415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12개월 중간 신호 사용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06640" y="3424237"/>
            <a:ext cx="423641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406640" y="3538728"/>
            <a:ext cx="4236415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예측 오차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0" y="3776472"/>
            <a:ext cx="4236415" cy="5029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13%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6640" y="4361688"/>
            <a:ext cx="4236415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적용 전 33%. 2018년 1분기 보유 대출 46만 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06640" y="4750117"/>
            <a:ext cx="423641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406640" y="4864608"/>
            <a:ext cx="4236415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모형 변경 횟수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06640" y="5102352"/>
            <a:ext cx="4236415" cy="5029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4회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06640" y="5687568"/>
            <a:ext cx="4236415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분기별 재학습 13회보다 낮은 오차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510528"/>
            <a:ext cx="11094415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Lending Club 공개 대출 데이터로 과거 분기를 재현한 프로토타입. 판단에는 당시 데이터만 쓰고, 평가는 이후 확정된 결과로 함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206</Words>
  <Application>Microsoft Office PowerPoint</Application>
  <PresentationFormat>와이드스크린</PresentationFormat>
  <Paragraphs>60</Paragraphs>
  <Slides>2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9" baseType="lpstr">
      <vt:lpstr>Pretendard SemiBold</vt:lpstr>
      <vt:lpstr>Calibri</vt:lpstr>
      <vt:lpstr>Pretendard</vt:lpstr>
      <vt:lpstr>Pretendard Medium</vt:lpstr>
      <vt:lpstr>Arial</vt:lpstr>
      <vt:lpstr>맑은 고딕</vt:lpstr>
      <vt:lpstr>Office Theme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리스크 역량PT</dc:title>
  <dc:subject/>
  <dc:creator>김연주</dc:creator>
  <cp:keywords/>
  <dc:description>generated using python-pptx</dc:description>
  <cp:lastModifiedBy>연주 김</cp:lastModifiedBy>
  <cp:revision>2</cp:revision>
  <dcterms:created xsi:type="dcterms:W3CDTF">2013-01-27T09:14:16Z</dcterms:created>
  <dcterms:modified xsi:type="dcterms:W3CDTF">2026-10-22T06:01:09Z</dcterms:modified>
  <cp:category/>
</cp:coreProperties>
</file>