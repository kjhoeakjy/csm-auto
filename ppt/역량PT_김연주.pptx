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4"/>
      <p:bold r:id="rId5"/>
    </p:embeddedFont>
    <p:embeddedFont>
      <p:font typeface="Pretendard Medium" panose="02000003000000020004" pitchFamily="2" charset="-127"/>
      <p:regular r:id="rId6"/>
    </p:embeddedFont>
    <p:embeddedFont>
      <p:font typeface="Pretendard SemiBold" panose="02000003000000020004" pitchFamily="2" charset="-127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54679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3659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3246120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434340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42531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968496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600200" y="1371600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2021.03 ~ 2025.08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618488"/>
            <a:ext cx="3424270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1600200" y="1700784"/>
            <a:ext cx="0" cy="1335024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38988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1481328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1536192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1700784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2926080" y="1801368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2024.09 ~ 2024.12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048256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2926080" y="2130552"/>
            <a:ext cx="0" cy="905256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271576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2825496" y="317296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2866644" y="3214115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2866644" y="324612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3689131" y="2231136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2025.01 ~ 2026.07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9131" y="2478024"/>
            <a:ext cx="3433729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3689131" y="2560320"/>
            <a:ext cx="0" cy="475488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7" name="Oval 26"/>
          <p:cNvSpPr/>
          <p:nvPr/>
        </p:nvSpPr>
        <p:spPr>
          <a:xfrm>
            <a:off x="3478819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606835" y="316839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Freeform 28"/>
          <p:cNvSpPr/>
          <p:nvPr/>
        </p:nvSpPr>
        <p:spPr>
          <a:xfrm>
            <a:off x="3588547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716563" y="317296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reeform 30"/>
          <p:cNvSpPr/>
          <p:nvPr/>
        </p:nvSpPr>
        <p:spPr>
          <a:xfrm>
            <a:off x="3693703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233" y="2660904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2025.09 ~ 2027.02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5233" y="2907792"/>
            <a:ext cx="3242966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215233" y="2990088"/>
            <a:ext cx="0" cy="4572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5004921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5096361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5151225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315817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6932097" y="3081528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77538" y="3026664"/>
            <a:ext cx="10972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BCG 인턴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60020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226314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292608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358902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425196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491490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557784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624078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690372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756666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822960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52" name="Oval 51"/>
          <p:cNvSpPr/>
          <p:nvPr/>
        </p:nvSpPr>
        <p:spPr>
          <a:xfrm>
            <a:off x="154533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563624" y="472744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4" name="Oval 53"/>
          <p:cNvSpPr/>
          <p:nvPr/>
        </p:nvSpPr>
        <p:spPr>
          <a:xfrm>
            <a:off x="22082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22656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6" name="Oval 55"/>
          <p:cNvSpPr/>
          <p:nvPr/>
        </p:nvSpPr>
        <p:spPr>
          <a:xfrm>
            <a:off x="287121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889504" y="586130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8" name="Oval 57"/>
          <p:cNvSpPr/>
          <p:nvPr/>
        </p:nvSpPr>
        <p:spPr>
          <a:xfrm>
            <a:off x="35341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552444" y="472744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60" name="Oval 59"/>
          <p:cNvSpPr/>
          <p:nvPr/>
        </p:nvSpPr>
        <p:spPr>
          <a:xfrm>
            <a:off x="419709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21538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2" name="Oval 61"/>
          <p:cNvSpPr/>
          <p:nvPr/>
        </p:nvSpPr>
        <p:spPr>
          <a:xfrm>
            <a:off x="483717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878324" y="586130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4" name="Oval 63"/>
          <p:cNvSpPr/>
          <p:nvPr/>
        </p:nvSpPr>
        <p:spPr>
          <a:xfrm>
            <a:off x="55229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541264" y="472744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6" name="Oval 65"/>
          <p:cNvSpPr/>
          <p:nvPr/>
        </p:nvSpPr>
        <p:spPr>
          <a:xfrm>
            <a:off x="616305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04204" y="529437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8" name="Oval 67"/>
          <p:cNvSpPr/>
          <p:nvPr/>
        </p:nvSpPr>
        <p:spPr>
          <a:xfrm>
            <a:off x="68488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67144" y="586130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70" name="Oval 69"/>
          <p:cNvSpPr/>
          <p:nvPr/>
        </p:nvSpPr>
        <p:spPr>
          <a:xfrm>
            <a:off x="748893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530084" y="472744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2" name="Oval 71"/>
          <p:cNvSpPr/>
          <p:nvPr/>
        </p:nvSpPr>
        <p:spPr>
          <a:xfrm>
            <a:off x="8151875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193024" y="529437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4" name="Oval 73"/>
          <p:cNvSpPr/>
          <p:nvPr/>
        </p:nvSpPr>
        <p:spPr>
          <a:xfrm>
            <a:off x="8778240" y="352044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Freeform 74"/>
          <p:cNvSpPr/>
          <p:nvPr/>
        </p:nvSpPr>
        <p:spPr>
          <a:xfrm>
            <a:off x="8979407" y="379476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Freeform 75"/>
          <p:cNvSpPr/>
          <p:nvPr/>
        </p:nvSpPr>
        <p:spPr>
          <a:xfrm>
            <a:off x="9057132" y="374904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7" name="Connector 76"/>
          <p:cNvCxnSpPr/>
          <p:nvPr/>
        </p:nvCxnSpPr>
        <p:spPr>
          <a:xfrm>
            <a:off x="8979407" y="384962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8823959" y="216712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418319" y="384048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80" name="Oval 79"/>
          <p:cNvSpPr/>
          <p:nvPr/>
        </p:nvSpPr>
        <p:spPr>
          <a:xfrm>
            <a:off x="10076688" y="3630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Freeform 80"/>
          <p:cNvSpPr/>
          <p:nvPr/>
        </p:nvSpPr>
        <p:spPr>
          <a:xfrm>
            <a:off x="10177272" y="376732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2" name="Connector 81"/>
          <p:cNvCxnSpPr/>
          <p:nvPr/>
        </p:nvCxnSpPr>
        <p:spPr>
          <a:xfrm>
            <a:off x="10177272" y="380847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3" name="Connector 82"/>
          <p:cNvCxnSpPr/>
          <p:nvPr/>
        </p:nvCxnSpPr>
        <p:spPr>
          <a:xfrm>
            <a:off x="10213848" y="387705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4" name="TextBox 83"/>
          <p:cNvSpPr txBox="1"/>
          <p:nvPr/>
        </p:nvSpPr>
        <p:spPr>
          <a:xfrm>
            <a:off x="10012680" y="416966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자동 점검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데이터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Lending Club 대출 226만 건 (2007~2018년)      </a:t>
            </a: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2010~2013년 상반기 대출 14만 건의 대출 조건, 소득, 신용 이력으로 학습한 LightGBM 모형 (2년 내 상각 확률 예측)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2869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54864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신용평가모형의 예측 상각률과 실제 상각률 차이 확대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상각률은 대출 실행 후 2년 내 상환 중단 후 손실 처리 비율. 예측 오차는 |실제÷예측-1|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50592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판단 시점별 보유 대출의 실제 상각률과 예측 상각률. 숫자는 모형 갱신 시점 (갱신 승인 가정)</a:t>
            </a:r>
          </a:p>
        </p:txBody>
      </p:sp>
      <p:pic>
        <p:nvPicPr>
          <p:cNvPr id="9" name="Picture 8" descr="cha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633472"/>
            <a:ext cx="5486400" cy="314140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37959" y="1755648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작동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196596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3개월마다 예측 상각률과 실제 상각률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295144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차이가 기준 초과 시 모형 수정안 12종 성능 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624328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 통과안 담당자 보고, 적용 여부는 담당자 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871216"/>
            <a:ext cx="49222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보고서 초안은 Claude Opus 5.5 작성, 수치는 계산 결과와 항목별 자동 대조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59" y="3104197"/>
            <a:ext cx="5105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59" y="320040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성과  2015~2018년 자료로 3년간 운영 재현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566160"/>
            <a:ext cx="153101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상각률 이상 경고 시점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3950208"/>
            <a:ext cx="1531010" cy="731520"/>
          </a:xfrm>
          <a:prstGeom prst="rect">
            <a:avLst/>
          </a:prstGeom>
          <a:noFill/>
        </p:spPr>
        <p:txBody>
          <a:bodyPr wrap="none" lIns="0" tIns="0" rIns="0" bIns="0" anchor="b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6개월 전</a:t>
            </a:r>
          </a:p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사전 예측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800600"/>
            <a:ext cx="1531010" cy="1280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후 1년 중간 실적 활용</a:t>
            </a:r>
          </a:p>
          <a:p>
            <a:pPr algn="l">
              <a:lnSpc>
                <a:spcPct val="120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(기존 2년 실적)</a:t>
            </a:r>
          </a:p>
          <a:p>
            <a:pPr algn="l">
              <a:lnSpc>
                <a:spcPct val="120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2016~2017년 단일 사례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92223" y="3566160"/>
            <a:ext cx="9525" cy="22402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25002" y="3566160"/>
            <a:ext cx="153101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 갱신 후 상각률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예측 오차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002" y="3950208"/>
            <a:ext cx="1531010" cy="731520"/>
          </a:xfrm>
          <a:prstGeom prst="rect">
            <a:avLst/>
          </a:prstGeom>
          <a:noFill/>
        </p:spPr>
        <p:txBody>
          <a:bodyPr wrap="none" lIns="0" tIns="0" rIns="0" bIns="0" anchor="b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5002" y="4800600"/>
            <a:ext cx="1531010" cy="1280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갱신 없음 33%, 상대 오차</a:t>
            </a:r>
          </a:p>
          <a:p>
            <a:pPr algn="l">
              <a:lnSpc>
                <a:spcPct val="120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(실제÷예측-1)</a:t>
            </a:r>
          </a:p>
          <a:p>
            <a:pPr algn="l">
              <a:lnSpc>
                <a:spcPct val="120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절대 차이 3.5%p에서 0.3%p로</a:t>
            </a:r>
          </a:p>
          <a:p>
            <a:pPr algn="l">
              <a:lnSpc>
                <a:spcPct val="120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2018년 4분기 보유 대출</a:t>
            </a:r>
          </a:p>
          <a:p>
            <a:pPr algn="l">
              <a:lnSpc>
                <a:spcPct val="120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(그림의 마지막 시점)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79265" y="3566160"/>
            <a:ext cx="9525" cy="22402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112044" y="3566160"/>
            <a:ext cx="153101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3년간 모형 갱신 횟수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12044" y="3950208"/>
            <a:ext cx="1531010" cy="731520"/>
          </a:xfrm>
          <a:prstGeom prst="rect">
            <a:avLst/>
          </a:prstGeom>
          <a:noFill/>
        </p:spPr>
        <p:txBody>
          <a:bodyPr wrap="none" lIns="0" tIns="0" rIns="0" bIns="0" anchor="b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2044" y="4800600"/>
            <a:ext cx="1531010" cy="1280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예측치 조정 2회</a:t>
            </a:r>
          </a:p>
          <a:p>
            <a:pPr algn="l">
              <a:lnSpc>
                <a:spcPct val="120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(갱신 승인 가정)</a:t>
            </a:r>
          </a:p>
          <a:p>
            <a:pPr algn="l">
              <a:lnSpc>
                <a:spcPct val="120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정기 재학습 13회 대비 평균 오차</a:t>
            </a:r>
          </a:p>
          <a:p>
            <a:pPr algn="l">
              <a:lnSpc>
                <a:spcPct val="120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18.8%에서 9.5%로</a:t>
            </a:r>
          </a:p>
          <a:p>
            <a:pPr algn="l">
              <a:lnSpc>
                <a:spcPct val="120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변별력(AUC) 우위</a:t>
            </a:r>
          </a:p>
          <a:p>
            <a:pPr algn="l">
              <a:lnSpc>
                <a:spcPct val="120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(0.703 대 0.701)</a:t>
            </a:r>
          </a:p>
        </p:txBody>
      </p:sp>
      <p:pic>
        <p:nvPicPr>
          <p:cNvPr id="28" name="Picture 2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788152"/>
            <a:ext cx="777240" cy="7772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63039" y="5925312"/>
            <a:ext cx="41148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결과 화면 (시점별 점검 결과 확인)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59" y="6291072"/>
            <a:ext cx="5105095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판정 규칙과 모형 설정은 같은 기간 결과를 보고 정한 탐색 단계 결과. 상각 시점은 마지막 납부월 기준 근사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시점별 판단은 해당 시점까지 확정된 정보로 수행. 공개 자료 기반 과거 재현, 실제 금융회사 운영 사례 아님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429</Words>
  <Application>Microsoft Office PowerPoint</Application>
  <PresentationFormat>와이드스크린</PresentationFormat>
  <Paragraphs>76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Calibri</vt:lpstr>
      <vt:lpstr>Pretendard SemiBold</vt:lpstr>
      <vt:lpstr>Arial</vt:lpstr>
      <vt:lpstr>Pretendard</vt:lpstr>
      <vt:lpstr>Pretendard Medium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2026-10-23T04:34:34Z</dcterms:modified>
  <cp:category/>
</cp:coreProperties>
</file>