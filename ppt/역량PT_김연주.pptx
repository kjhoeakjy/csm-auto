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embeddedFontLst>
    <p:embeddedFont>
      <p:font typeface="Pretendard" panose="02000003000000020004" pitchFamily="2" charset="-127"/>
      <p:regular r:id="rId4"/>
      <p:bold r:id="rId5"/>
    </p:embeddedFont>
    <p:embeddedFont>
      <p:font typeface="Pretendard Medium" panose="02000003000000020004" pitchFamily="2" charset="-127"/>
      <p:regular r:id="rId6"/>
    </p:embeddedFont>
    <p:embeddedFont>
      <p:font typeface="Pretendard SemiBold" panose="02000003000000020004" pitchFamily="2" charset="-127"/>
      <p:bold r:id="rId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4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tableStyles" Target="tableStyles.xml"/><Relationship Id="rId5" Type="http://schemas.openxmlformats.org/officeDocument/2006/relationships/font" Target="fonts/font2.fntdata"/><Relationship Id="rId10" Type="http://schemas.openxmlformats.org/officeDocument/2006/relationships/theme" Target="theme/theme1.xml"/><Relationship Id="rId4" Type="http://schemas.openxmlformats.org/officeDocument/2006/relationships/font" Target="fonts/font1.fntdata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Experience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3957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54679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학업, 경험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23659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8549640" y="3246120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548640" y="434340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프로젝트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442531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8549640" y="3968496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1600200" y="1371600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학사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2021.03 ~ 2025.08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618488"/>
            <a:ext cx="3424270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1600200" y="1700784"/>
            <a:ext cx="0" cy="1335024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38988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Freeform 13"/>
          <p:cNvSpPr/>
          <p:nvPr/>
        </p:nvSpPr>
        <p:spPr>
          <a:xfrm>
            <a:off x="1481328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1536192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>
            <a:off x="1700784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2926080" y="1801368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외국인 학생 멘토링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2024.09 ~ 2024.12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048256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2926080" y="2130552"/>
            <a:ext cx="0" cy="905256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271576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Freeform 20"/>
          <p:cNvSpPr/>
          <p:nvPr/>
        </p:nvSpPr>
        <p:spPr>
          <a:xfrm>
            <a:off x="2825496" y="3172968"/>
            <a:ext cx="201168" cy="164592"/>
          </a:xfrm>
          <a:custGeom>
            <a:avLst/>
            <a:gdLst/>
            <a:ahLst/>
            <a:cxnLst/>
            <a:rect l="l" t="t" r="r" b="b"/>
            <a:pathLst>
              <a:path w="201168" h="164592">
                <a:moveTo>
                  <a:pt x="0" y="0"/>
                </a:moveTo>
                <a:lnTo>
                  <a:pt x="201168" y="0"/>
                </a:lnTo>
                <a:lnTo>
                  <a:pt x="201168" y="109728"/>
                </a:lnTo>
                <a:lnTo>
                  <a:pt x="82296" y="109728"/>
                </a:lnTo>
                <a:lnTo>
                  <a:pt x="36576" y="164592"/>
                </a:lnTo>
                <a:lnTo>
                  <a:pt x="45720" y="109728"/>
                </a:lnTo>
                <a:lnTo>
                  <a:pt x="0" y="109728"/>
                </a:lnTo>
                <a:close/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2866644" y="3214115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2866644" y="3246120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3689131" y="2231136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인공지능 학회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2025.01 ~ 2026.07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89131" y="2478024"/>
            <a:ext cx="3433729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>
            <a:off x="3689131" y="2560320"/>
            <a:ext cx="0" cy="475488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7" name="Oval 26"/>
          <p:cNvSpPr/>
          <p:nvPr/>
        </p:nvSpPr>
        <p:spPr>
          <a:xfrm>
            <a:off x="3478819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606835" y="3168396"/>
            <a:ext cx="64008" cy="640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Freeform 28"/>
          <p:cNvSpPr/>
          <p:nvPr/>
        </p:nvSpPr>
        <p:spPr>
          <a:xfrm>
            <a:off x="3588547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716563" y="3172968"/>
            <a:ext cx="54864" cy="5486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Freeform 30"/>
          <p:cNvSpPr/>
          <p:nvPr/>
        </p:nvSpPr>
        <p:spPr>
          <a:xfrm>
            <a:off x="3693703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15233" y="2660904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석사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2025.09 ~ 2027.02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5233" y="2907792"/>
            <a:ext cx="3242966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" name="Connector 33"/>
          <p:cNvCxnSpPr/>
          <p:nvPr/>
        </p:nvCxnSpPr>
        <p:spPr>
          <a:xfrm>
            <a:off x="5215233" y="2990088"/>
            <a:ext cx="0" cy="4572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35" name="Oval 34"/>
          <p:cNvSpPr/>
          <p:nvPr/>
        </p:nvSpPr>
        <p:spPr>
          <a:xfrm>
            <a:off x="5004921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Freeform 35"/>
          <p:cNvSpPr/>
          <p:nvPr/>
        </p:nvSpPr>
        <p:spPr>
          <a:xfrm>
            <a:off x="5096361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Freeform 36"/>
          <p:cNvSpPr/>
          <p:nvPr/>
        </p:nvSpPr>
        <p:spPr>
          <a:xfrm>
            <a:off x="5151225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315817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39" name="Rectangle 38"/>
          <p:cNvSpPr/>
          <p:nvPr/>
        </p:nvSpPr>
        <p:spPr>
          <a:xfrm>
            <a:off x="6932097" y="3081528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577538" y="3026664"/>
            <a:ext cx="10972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BCG 인턴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60020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226314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292608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4" name="Connector 43"/>
          <p:cNvCxnSpPr/>
          <p:nvPr/>
        </p:nvCxnSpPr>
        <p:spPr>
          <a:xfrm>
            <a:off x="358902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425196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6" name="Connector 45"/>
          <p:cNvCxnSpPr/>
          <p:nvPr/>
        </p:nvCxnSpPr>
        <p:spPr>
          <a:xfrm>
            <a:off x="491490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557784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624078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9" name="Connector 48"/>
          <p:cNvCxnSpPr/>
          <p:nvPr/>
        </p:nvCxnSpPr>
        <p:spPr>
          <a:xfrm>
            <a:off x="690372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756666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822960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sp>
        <p:nvSpPr>
          <p:cNvPr id="52" name="Oval 51"/>
          <p:cNvSpPr/>
          <p:nvPr/>
        </p:nvSpPr>
        <p:spPr>
          <a:xfrm>
            <a:off x="154533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563624" y="4727448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저해상도 조류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2025.03</a:t>
            </a:r>
          </a:p>
        </p:txBody>
      </p:sp>
      <p:sp>
        <p:nvSpPr>
          <p:cNvPr id="54" name="Oval 53"/>
          <p:cNvSpPr/>
          <p:nvPr/>
        </p:nvSpPr>
        <p:spPr>
          <a:xfrm>
            <a:off x="22082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22656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오늘의집 리뷰 요약 시스템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2025.03 ~ 2025.08</a:t>
            </a:r>
          </a:p>
        </p:txBody>
      </p:sp>
      <p:sp>
        <p:nvSpPr>
          <p:cNvPr id="56" name="Oval 55"/>
          <p:cNvSpPr/>
          <p:nvPr/>
        </p:nvSpPr>
        <p:spPr>
          <a:xfrm>
            <a:off x="287121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889504" y="5861304"/>
            <a:ext cx="1302014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AutoML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2025.05</a:t>
            </a:r>
          </a:p>
        </p:txBody>
      </p:sp>
      <p:sp>
        <p:nvSpPr>
          <p:cNvPr id="58" name="Oval 57"/>
          <p:cNvSpPr/>
          <p:nvPr/>
        </p:nvSpPr>
        <p:spPr>
          <a:xfrm>
            <a:off x="35341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552444" y="4727448"/>
            <a:ext cx="1760585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담낭암 생존분석 연구 (대형병원)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2025.06 ~ 2025.08</a:t>
            </a:r>
          </a:p>
        </p:txBody>
      </p:sp>
      <p:sp>
        <p:nvSpPr>
          <p:cNvPr id="60" name="Oval 59"/>
          <p:cNvSpPr/>
          <p:nvPr/>
        </p:nvSpPr>
        <p:spPr>
          <a:xfrm>
            <a:off x="419709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21538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시각장애인용 피부질환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2025.07</a:t>
            </a:r>
          </a:p>
        </p:txBody>
      </p:sp>
      <p:sp>
        <p:nvSpPr>
          <p:cNvPr id="62" name="Oval 61"/>
          <p:cNvSpPr/>
          <p:nvPr/>
        </p:nvSpPr>
        <p:spPr>
          <a:xfrm>
            <a:off x="483717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878324" y="5861304"/>
            <a:ext cx="124266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환헤지 멀티에이전트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2025.07 ~ 2025.12</a:t>
            </a:r>
          </a:p>
        </p:txBody>
      </p:sp>
      <p:sp>
        <p:nvSpPr>
          <p:cNvPr id="64" name="Oval 63"/>
          <p:cNvSpPr/>
          <p:nvPr/>
        </p:nvSpPr>
        <p:spPr>
          <a:xfrm>
            <a:off x="55229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541264" y="4727448"/>
            <a:ext cx="121029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건물별 전력사용량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2025.08 ~ 2025.09</a:t>
            </a:r>
          </a:p>
        </p:txBody>
      </p:sp>
      <p:sp>
        <p:nvSpPr>
          <p:cNvPr id="66" name="Oval 65"/>
          <p:cNvSpPr/>
          <p:nvPr/>
        </p:nvSpPr>
        <p:spPr>
          <a:xfrm>
            <a:off x="616305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204204" y="5294376"/>
            <a:ext cx="1695846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3D 의료 파운데이션 모델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2025.09 ~ 2026.02</a:t>
            </a:r>
          </a:p>
        </p:txBody>
      </p:sp>
      <p:sp>
        <p:nvSpPr>
          <p:cNvPr id="68" name="Oval 67"/>
          <p:cNvSpPr/>
          <p:nvPr/>
        </p:nvSpPr>
        <p:spPr>
          <a:xfrm>
            <a:off x="68488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867144" y="5861304"/>
            <a:ext cx="15771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의료 데이터 다변량 평균 비교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2025.10</a:t>
            </a:r>
          </a:p>
        </p:txBody>
      </p:sp>
      <p:sp>
        <p:nvSpPr>
          <p:cNvPr id="70" name="Oval 69"/>
          <p:cNvSpPr/>
          <p:nvPr/>
        </p:nvSpPr>
        <p:spPr>
          <a:xfrm>
            <a:off x="748893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7530084" y="4727448"/>
            <a:ext cx="14692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확률론 시험 자동 채점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2026.02 ~ 2026.03</a:t>
            </a:r>
          </a:p>
        </p:txBody>
      </p:sp>
      <p:sp>
        <p:nvSpPr>
          <p:cNvPr id="72" name="Oval 71"/>
          <p:cNvSpPr/>
          <p:nvPr/>
        </p:nvSpPr>
        <p:spPr>
          <a:xfrm>
            <a:off x="8151875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193024" y="5294376"/>
            <a:ext cx="2149022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자율주행 ODD 위험평가 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2026.05 ~ 2026.06</a:t>
            </a:r>
          </a:p>
        </p:txBody>
      </p:sp>
      <p:sp>
        <p:nvSpPr>
          <p:cNvPr id="74" name="Oval 73"/>
          <p:cNvSpPr/>
          <p:nvPr/>
        </p:nvSpPr>
        <p:spPr>
          <a:xfrm>
            <a:off x="8778240" y="352044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Freeform 74"/>
          <p:cNvSpPr/>
          <p:nvPr/>
        </p:nvSpPr>
        <p:spPr>
          <a:xfrm>
            <a:off x="8979407" y="3794760"/>
            <a:ext cx="237745" cy="137160"/>
          </a:xfrm>
          <a:custGeom>
            <a:avLst/>
            <a:gdLst/>
            <a:ahLst/>
            <a:cxnLst/>
            <a:rect l="l" t="t" r="r" b="b"/>
            <a:pathLst>
              <a:path w="237745" h="137160">
                <a:moveTo>
                  <a:pt x="0" y="0"/>
                </a:moveTo>
                <a:lnTo>
                  <a:pt x="237745" y="0"/>
                </a:lnTo>
                <a:lnTo>
                  <a:pt x="237745" y="137160"/>
                </a:lnTo>
                <a:lnTo>
                  <a:pt x="0" y="13716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Freeform 75"/>
          <p:cNvSpPr/>
          <p:nvPr/>
        </p:nvSpPr>
        <p:spPr>
          <a:xfrm>
            <a:off x="9057132" y="3749040"/>
            <a:ext cx="82296" cy="45720"/>
          </a:xfrm>
          <a:custGeom>
            <a:avLst/>
            <a:gdLst/>
            <a:ahLst/>
            <a:cxnLst/>
            <a:rect l="l" t="t" r="r" b="b"/>
            <a:pathLst>
              <a:path w="82296" h="45720">
                <a:moveTo>
                  <a:pt x="0" y="45720"/>
                </a:moveTo>
                <a:lnTo>
                  <a:pt x="0" y="0"/>
                </a:lnTo>
                <a:lnTo>
                  <a:pt x="82296" y="0"/>
                </a:lnTo>
                <a:lnTo>
                  <a:pt x="82296" y="45720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7" name="Connector 76"/>
          <p:cNvCxnSpPr/>
          <p:nvPr/>
        </p:nvCxnSpPr>
        <p:spPr>
          <a:xfrm>
            <a:off x="8979407" y="3849624"/>
            <a:ext cx="237745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78" name="TextBox 77"/>
          <p:cNvSpPr txBox="1"/>
          <p:nvPr/>
        </p:nvSpPr>
        <p:spPr>
          <a:xfrm>
            <a:off x="8823959" y="2167128"/>
            <a:ext cx="2651760" cy="1289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BCG 인턴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데이터마트 제작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불량 확률 예측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SHAP 분석 (CTP-CTQ matrix)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LLM 에이전트 및 인터페이스 개발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2026.06 ~ 2026.09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9418319" y="3840480"/>
            <a:ext cx="658369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80" name="Oval 79"/>
          <p:cNvSpPr/>
          <p:nvPr/>
        </p:nvSpPr>
        <p:spPr>
          <a:xfrm>
            <a:off x="10076688" y="363016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Freeform 80"/>
          <p:cNvSpPr/>
          <p:nvPr/>
        </p:nvSpPr>
        <p:spPr>
          <a:xfrm>
            <a:off x="10177272" y="3767328"/>
            <a:ext cx="219456" cy="146304"/>
          </a:xfrm>
          <a:custGeom>
            <a:avLst/>
            <a:gdLst/>
            <a:ahLst/>
            <a:cxnLst/>
            <a:rect l="l" t="t" r="r" b="b"/>
            <a:pathLst>
              <a:path w="219456" h="146304">
                <a:moveTo>
                  <a:pt x="0" y="0"/>
                </a:moveTo>
                <a:lnTo>
                  <a:pt x="219456" y="0"/>
                </a:lnTo>
                <a:lnTo>
                  <a:pt x="219456" y="146304"/>
                </a:lnTo>
                <a:lnTo>
                  <a:pt x="0" y="14630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2" name="Connector 81"/>
          <p:cNvCxnSpPr/>
          <p:nvPr/>
        </p:nvCxnSpPr>
        <p:spPr>
          <a:xfrm>
            <a:off x="10177272" y="3808476"/>
            <a:ext cx="219456" cy="0"/>
          </a:xfrm>
          <a:prstGeom prst="line">
            <a:avLst/>
          </a:prstGeom>
          <a:ln w="25400">
            <a:solidFill>
              <a:srgbClr val="000000"/>
            </a:solidFill>
          </a:ln>
        </p:spPr>
      </p:cxnSp>
      <p:cxnSp>
        <p:nvCxnSpPr>
          <p:cNvPr id="83" name="Connector 82"/>
          <p:cNvCxnSpPr/>
          <p:nvPr/>
        </p:nvCxnSpPr>
        <p:spPr>
          <a:xfrm>
            <a:off x="10213848" y="3877056"/>
            <a:ext cx="54864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84" name="TextBox 83"/>
          <p:cNvSpPr txBox="1"/>
          <p:nvPr/>
        </p:nvSpPr>
        <p:spPr>
          <a:xfrm>
            <a:off x="10012680" y="4169664"/>
            <a:ext cx="16303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현대카드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02 New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신용평가모형 자동 점검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데이터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Lending Club 대출 226만 건 (2007~2018년)      </a:t>
            </a: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모형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2010~2012년 대출 8.7만 건의 대출 조건, 소득, 신용 이력으로 학습한 LightGBM 모형 (2년 내 상각 확률 예측)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22869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755648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38528"/>
            <a:ext cx="54864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신용평가모형의 예측 상각률과 실제 상각률 차이 확대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상각률은 대출 실행 후 2년 내 상환 중단 후 손실 처리 비율. 예측 오차는 |실제÷예측-1|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87168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판단 시점별 보유 대출의 실제 상각률과 예측 상각률. 숫자는 모형 갱신 시점 (갱신 승인 가정)</a:t>
            </a:r>
          </a:p>
        </p:txBody>
      </p:sp>
      <p:pic>
        <p:nvPicPr>
          <p:cNvPr id="9" name="Picture 8" descr="char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2697480"/>
            <a:ext cx="5486400" cy="265470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37959" y="1755648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작동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1965960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3개월마다 예측 상각률과 실제 상각률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295144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차이가 기준 초과 시 모형 수정안 11종 성능 비교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2624328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기준 통과안 담당자 보고, 적용 여부는 담당자 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871216"/>
            <a:ext cx="49222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보고서 초안은 Claude Opus 5.5 작성, 수치는 계산 결과와 항목별 자동 대조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59" y="3104197"/>
            <a:ext cx="5105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59" y="3200400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성과  2015~2018년 자료로 3년간 운영 재현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3456432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6개월 전 사전 예측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19" y="3474720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상각률 이상 경고 시점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대출 후 1년 중간 실적 활용 (기존 2년 실적)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2016~2017년 단일 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4206240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13%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19" y="4224527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수정안 적용 후 상각률 예측 오차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적용 전 33%, 상대 오차 (실제÷예측-1)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절대 차이 3.4%p에서 1.6%p로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2018년 1분기 보유 대출 46만 건 사후 평가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59" y="4956048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4회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19" y="4974336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3년간 모형 갱신 횟수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재학습 1, 예측치 조정 3 (갱신 승인 가정)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정기 재학습 13회 대비 평균 오차 19.4%에서 17.3%로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변별력(AUC)은 정기 재학습 우위 (0.701 대 0.693)</a:t>
            </a:r>
          </a:p>
        </p:txBody>
      </p:sp>
      <p:pic>
        <p:nvPicPr>
          <p:cNvPr id="23" name="Picture 22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0"/>
            <a:ext cx="868680" cy="8686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554479" y="5650992"/>
            <a:ext cx="41148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결과 화면 (시점별 점검 결과 확인)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kjhoeakjy.github.io/csm-auto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6291072"/>
            <a:ext cx="5105095" cy="365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판정 규칙은 같은 기간 결과를 보고 조정한 탐색 단계 결과. 상각 시점은 마지막 납부월 기준 근사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시점별 판단은 해당 시점까지 확정된 정보로 수행. 공개 자료 기반 과거 재현, 실제 금융회사 운영 사례 아님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431</Words>
  <Application>Microsoft Office PowerPoint</Application>
  <PresentationFormat>와이드스크린</PresentationFormat>
  <Paragraphs>68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Pretendard</vt:lpstr>
      <vt:lpstr>Arial</vt:lpstr>
      <vt:lpstr>Pretendard Medium</vt:lpstr>
      <vt:lpstr>Pretendard SemiBold</vt:lpstr>
      <vt:lpstr>Calibri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리스크 역량PT</dc:title>
  <dc:subject/>
  <dc:creator>김연주</dc:creator>
  <cp:keywords/>
  <dc:description>generated using python-pptx</dc:description>
  <cp:lastModifiedBy>연주 김</cp:lastModifiedBy>
  <cp:revision>2</cp:revision>
  <dcterms:created xsi:type="dcterms:W3CDTF">2013-01-27T09:14:16Z</dcterms:created>
  <dcterms:modified xsi:type="dcterms:W3CDTF">2026-10-23T01:45:04Z</dcterms:modified>
  <cp:category/>
</cp:coreProperties>
</file>