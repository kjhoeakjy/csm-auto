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54679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3659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3246120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43434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2531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968496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600200" y="1371600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2021.03 ~ 2025.08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통계적 추론과 모델링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18488"/>
            <a:ext cx="3424270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1600200" y="1700784"/>
            <a:ext cx="0" cy="1335024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38988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481328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1536192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700784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2926080" y="1801368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2024.09 ~ 2024.12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통계학 전공 학업 지원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048256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926080" y="2130552"/>
            <a:ext cx="0" cy="905256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71576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2825496" y="317296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2866644" y="3214115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66644" y="324612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3689131" y="2231136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2025.01 ~ 2026.07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학회장, 운영팀장, 스터디 진행, 프로젝트 진행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9131" y="2478024"/>
            <a:ext cx="3433729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3689131" y="2560320"/>
            <a:ext cx="0" cy="475488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3478819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06835" y="316839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Freeform 28"/>
          <p:cNvSpPr/>
          <p:nvPr/>
        </p:nvSpPr>
        <p:spPr>
          <a:xfrm>
            <a:off x="3588547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716563" y="317296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reeform 30"/>
          <p:cNvSpPr/>
          <p:nvPr/>
        </p:nvSpPr>
        <p:spPr>
          <a:xfrm>
            <a:off x="3693703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233" y="2660904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2025.09 ~ 2027.02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딥러닝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5233" y="2907792"/>
            <a:ext cx="3242966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215233" y="2990088"/>
            <a:ext cx="0" cy="4572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004921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5096361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5151225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315817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39" name="Connector 38"/>
          <p:cNvCxnSpPr/>
          <p:nvPr/>
        </p:nvCxnSpPr>
        <p:spPr>
          <a:xfrm>
            <a:off x="160020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226314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92608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358902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425196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491490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557784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624078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690372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756666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822960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50" name="Oval 49"/>
          <p:cNvSpPr/>
          <p:nvPr/>
        </p:nvSpPr>
        <p:spPr>
          <a:xfrm>
            <a:off x="154533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563624" y="472744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2" name="Oval 51"/>
          <p:cNvSpPr/>
          <p:nvPr/>
        </p:nvSpPr>
        <p:spPr>
          <a:xfrm>
            <a:off x="22082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22656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4" name="Oval 53"/>
          <p:cNvSpPr/>
          <p:nvPr/>
        </p:nvSpPr>
        <p:spPr>
          <a:xfrm>
            <a:off x="287121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889504" y="586130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6" name="Oval 55"/>
          <p:cNvSpPr/>
          <p:nvPr/>
        </p:nvSpPr>
        <p:spPr>
          <a:xfrm>
            <a:off x="35341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552444" y="472744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58" name="Oval 57"/>
          <p:cNvSpPr/>
          <p:nvPr/>
        </p:nvSpPr>
        <p:spPr>
          <a:xfrm>
            <a:off x="419709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21538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0" name="Oval 59"/>
          <p:cNvSpPr/>
          <p:nvPr/>
        </p:nvSpPr>
        <p:spPr>
          <a:xfrm>
            <a:off x="483717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878324" y="586130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2" name="Oval 61"/>
          <p:cNvSpPr/>
          <p:nvPr/>
        </p:nvSpPr>
        <p:spPr>
          <a:xfrm>
            <a:off x="55229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541264" y="472744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4" name="Oval 63"/>
          <p:cNvSpPr/>
          <p:nvPr/>
        </p:nvSpPr>
        <p:spPr>
          <a:xfrm>
            <a:off x="616305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204204" y="529437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6" name="Oval 65"/>
          <p:cNvSpPr/>
          <p:nvPr/>
        </p:nvSpPr>
        <p:spPr>
          <a:xfrm>
            <a:off x="68488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867144" y="586130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68" name="Oval 67"/>
          <p:cNvSpPr/>
          <p:nvPr/>
        </p:nvSpPr>
        <p:spPr>
          <a:xfrm>
            <a:off x="748893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30084" y="472744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0" name="Oval 69"/>
          <p:cNvSpPr/>
          <p:nvPr/>
        </p:nvSpPr>
        <p:spPr>
          <a:xfrm>
            <a:off x="8151875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8193024" y="529437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2" name="Oval 71"/>
          <p:cNvSpPr/>
          <p:nvPr/>
        </p:nvSpPr>
        <p:spPr>
          <a:xfrm>
            <a:off x="8778240" y="352044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Freeform 72"/>
          <p:cNvSpPr/>
          <p:nvPr/>
        </p:nvSpPr>
        <p:spPr>
          <a:xfrm>
            <a:off x="8979407" y="379476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Freeform 73"/>
          <p:cNvSpPr/>
          <p:nvPr/>
        </p:nvSpPr>
        <p:spPr>
          <a:xfrm>
            <a:off x="9057132" y="374904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5" name="Connector 74"/>
          <p:cNvCxnSpPr/>
          <p:nvPr/>
        </p:nvCxnSpPr>
        <p:spPr>
          <a:xfrm>
            <a:off x="8979407" y="384962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6" name="TextBox 75"/>
          <p:cNvSpPr txBox="1"/>
          <p:nvPr/>
        </p:nvSpPr>
        <p:spPr>
          <a:xfrm>
            <a:off x="8823959" y="216712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9418319" y="384048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8" name="Oval 77"/>
          <p:cNvSpPr/>
          <p:nvPr/>
        </p:nvSpPr>
        <p:spPr>
          <a:xfrm>
            <a:off x="10076688" y="3630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Freeform 78"/>
          <p:cNvSpPr/>
          <p:nvPr/>
        </p:nvSpPr>
        <p:spPr>
          <a:xfrm>
            <a:off x="10177272" y="376732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0" name="Connector 79"/>
          <p:cNvCxnSpPr/>
          <p:nvPr/>
        </p:nvCxnSpPr>
        <p:spPr>
          <a:xfrm>
            <a:off x="10177272" y="380847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1" name="Connector 80"/>
          <p:cNvCxnSpPr/>
          <p:nvPr/>
        </p:nvCxnSpPr>
        <p:spPr>
          <a:xfrm>
            <a:off x="10213848" y="387705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2" name="TextBox 81"/>
          <p:cNvSpPr txBox="1"/>
          <p:nvPr/>
        </p:nvSpPr>
        <p:spPr>
          <a:xfrm>
            <a:off x="10012680" y="416966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자동 점검 시스템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76565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38528"/>
            <a:ext cx="54864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시간 경과에 따른 신용평가모형 정확도 저하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연체율 상승, 모형 예측치 하락 (연체율: 대출 실행 후 2년 내 상환 중단 후 손실 처리 비율)</a:t>
            </a:r>
          </a:p>
        </p:txBody>
      </p:sp>
      <p:pic>
        <p:nvPicPr>
          <p:cNvPr id="7" name="Picture 6" descr="chart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697480"/>
            <a:ext cx="5486400" cy="26547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37959" y="169164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59" y="196596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분기별 예측 연체율·실제 연체율 비교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295144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오차 확대 시 수정안 11종 검증 (1년 전 자료로 수립, 이후 실적으로 평가)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624328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충족안만 담당자 보고, 적용 여부는 담당자 결정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59" y="3031045"/>
            <a:ext cx="5105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59" y="315468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13개 분기 재현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3456432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6개월 단축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19" y="3474720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이상 감지 시점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1년 실적 병행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4206240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9" y="4224527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예측 오차 (권고안 적용 후)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적용 전 33%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2018년 1분기 보유 대출 46만 건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4956048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4회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4974336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 교체 횟수 (3년)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분기별 재학습 방식 13회 대비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평균 오차 19.4% 대비 17.3%</a:t>
            </a:r>
          </a:p>
        </p:txBody>
      </p:sp>
      <p:pic>
        <p:nvPicPr>
          <p:cNvPr id="20" name="Picture 19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0"/>
            <a:ext cx="868680" cy="8686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79" y="5650992"/>
            <a:ext cx="41148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결과 화면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640080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자료: Lending Club 공개 대출 226만 건. 시점별 판단에 해당 시점까지의 정보만 사용. 실제 금융회사 운영 사례 아님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310</Words>
  <Application>Microsoft Office PowerPoint</Application>
  <PresentationFormat>와이드스크린</PresentationFormat>
  <Paragraphs>60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Pretendard SemiBold</vt:lpstr>
      <vt:lpstr>Arial</vt:lpstr>
      <vt:lpstr>Calibri</vt:lpstr>
      <vt:lpstr>Pretendard</vt:lpstr>
      <vt:lpstr>Pretendard Medium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2026-10-22T07:12:38Z</dcterms:modified>
  <cp:category/>
</cp:coreProperties>
</file>