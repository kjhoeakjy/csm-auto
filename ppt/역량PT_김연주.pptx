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embeddedFontLst>
    <p:embeddedFont>
      <p:font typeface="Pretendard" panose="02000003000000020004" pitchFamily="2" charset="-127"/>
      <p:regular r:id="rId5"/>
      <p:bold r:id="rId6"/>
    </p:embeddedFont>
    <p:embeddedFont>
      <p:font typeface="Pretendard Medium" panose="02000003000000020004" pitchFamily="2" charset="-127"/>
      <p:regular r:id="rId7"/>
    </p:embeddedFont>
    <p:embeddedFont>
      <p:font typeface="Pretendard SemiBold" panose="02000003000000020004" pitchFamily="2" charset="-127"/>
      <p:bold r:id="rId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4.fntdata"/><Relationship Id="rId3" Type="http://schemas.openxmlformats.org/officeDocument/2006/relationships/slide" Target="slides/slide2.xml"/><Relationship Id="rId7" Type="http://schemas.openxmlformats.org/officeDocument/2006/relationships/font" Target="fonts/font3.fntdata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openxmlformats.org/officeDocument/2006/relationships/theme" Target="theme/theme1.xml"/><Relationship Id="rId5" Type="http://schemas.openxmlformats.org/officeDocument/2006/relationships/font" Target="fonts/font1.fntdata"/><Relationship Id="rId10" Type="http://schemas.openxmlformats.org/officeDocument/2006/relationships/viewProps" Target="viewProps.xml"/><Relationship Id="rId4" Type="http://schemas.openxmlformats.org/officeDocument/2006/relationships/notesMaster" Target="notesMasters/notesMaster1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06118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리스크 직무에 지원한 김연주입니다.</a:t>
            </a:r>
          </a:p>
          <a:p>
            <a:endParaRPr/>
          </a:p>
          <a:p>
            <a:r>
              <a:t>[상단 띠] 제 경험은 통계적 분석·검증, AI 모델·시스템 개발, 산업 현장 적용의 세 단계로 이어집니다.</a:t>
            </a:r>
          </a:p>
          <a:p>
            <a:endParaRPr/>
          </a:p>
          <a:p>
            <a:r>
              <a:t>[왼쪽] 통계학을 전공하고 연구보조로 생존분석을 수행하며, 사건이 언제 일어나는지 정의하고 결과를 통계적으로 검증하는 법을 익혔습니다.</a:t>
            </a:r>
          </a:p>
          <a:p>
            <a:endParaRPr/>
          </a:p>
          <a:p>
            <a:r>
              <a:t>[가운데] 학회를 이끌며 멀티에이전트 시스템 세 건과 3D CT 멀티모달 모델을 개발했고, 모델을 직접 설계하고 실험 결과로 판단하는 습관을 갖게 되었습니다.</a:t>
            </a:r>
          </a:p>
          <a:p>
            <a:endParaRPr/>
          </a:p>
          <a:p>
            <a:r>
              <a:t>[BCG X] BCG X 인턴으로는 데이터마트 구축부터 예측 모델, 분석 화면, LLM 활용까지 실제 사용자가 쓰는 단계를 경험했습니다.</a:t>
            </a:r>
          </a:p>
          <a:p>
            <a:endParaRPr/>
          </a:p>
          <a:p>
            <a:r>
              <a:t>[종점] 이 세 가지를 하나로 묶어, 금융 모형을 운영하는 반복 업무를 자동화하는 프로젝트를 수행했습니다.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[제목] 신용평가모형의 점검부터 개선안 검증, 보고까지 자동화한 시스템입니다.</a:t>
            </a:r>
          </a:p>
          <a:p>
            <a:endParaRPr/>
          </a:p>
          <a:p>
            <a:r>
              <a:t>[문제] 대상은 신규 대출의 24개월 내 상각 위험을 예측하는 모형 하나입니다. 개발 당시 잘 맞던 모형도 시간이 지나면 실제 상각률과 어긋납니다. 이때 그대로 쓸지, 확률만 보정할지, 다시 학습할지 매 분기 판단해야 합니다.</a:t>
            </a:r>
          </a:p>
          <a:p>
            <a:endParaRPr/>
          </a:p>
          <a:p>
            <a:r>
              <a:t>[흐름] 시스템은 매 분기 그 시점에 알 수 있던 데이터만 사용해 신규 대출의 특성, 12개월 중간 신호, 결과가 확정된 대출의 실제 상각률을 점검합니다. 문제가 확인되면 유지·재보정·재학습 후보 열 가지를 1년 전 데이터로 만들어 이후 결과로 검증하고, 기준을 통과한 안만 권고합니다. 모형 변경은 담당자가 승인합니다.</a:t>
            </a:r>
          </a:p>
          <a:p>
            <a:endParaRPr/>
          </a:p>
          <a:p>
            <a:r>
              <a:t>[화면] 2018년 1분기 화면입니다. 상태는 조치 검토, 권고는 재학습 검토입니다. 근거는 세 가지입니다. 신규 대출의 점수 분포는 안정적이었지만, 결과가 확정된 대출의 실제 상각률이 예측의 1.27배였고, 재학습 후보가 별도 검증에서 오차를 줄였습니다.</a:t>
            </a:r>
          </a:p>
          <a:p>
            <a:endParaRPr/>
          </a:p>
          <a:p>
            <a:r>
              <a:t>[숫자] 결과는 세 가지입니다. 첫째, 12개월 중간 신호로 24개월 결과보다 2분기 먼저 이상을 포착했습니다. 둘째, 이 분기의 권고를 당시 보유 대출 46만 건에 적용하면 예측 오차가 33%에서 14%로 줄었습니다. 셋째, 매 분기 재학습하는 방식과 비교해 예측 오차는 비슷하면서 모형 변경은 13회에서 2회로 줄었습니다.</a:t>
            </a:r>
          </a:p>
          <a:p>
            <a:endParaRPr/>
          </a:p>
          <a:p>
            <a:r>
              <a:t>[내 역할] 저는 정답과 관측 시점을 검증하고, 예측·개선 모형을 만들고, 점검부터 후보 검증과 보고서 수치 대조까지 하나의 무인 실행 흐름으로 연결했습니다. 바꿀 이유가 없을 때 바꾸지 않는 판단까지 자동화하는 것이 목표였습니다.</a:t>
            </a:r>
          </a:p>
          <a:p>
            <a:endParaRPr/>
          </a:p>
          <a:p>
            <a:r>
              <a:t>[마무리] 공개 데이터로 과거 분기를 재현한 프로토타입이며, 상각 시점은 근사라는 한계를 별도 검증했습니다. 리스크 직무에서 모형을 믿을 수 있게 운영하는 일에 이 경험을 쓰겠습니다.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36576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01 경험과 노력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통계적 검증에서 AI 시스템 구현, 산업 현장 적용으로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57109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2862072" cy="7772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1609344"/>
            <a:ext cx="260604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9A9A"/>
                </a:solidFill>
                <a:latin typeface="Pretendard Medium"/>
                <a:ea typeface="Pretendard Medium"/>
                <a:cs typeface="Pretendard Medium"/>
              </a:rPr>
              <a:t>1  </a:t>
            </a:r>
            <a:r>
              <a:rPr sz="12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통계적 분석·검증</a:t>
            </a:r>
          </a:p>
          <a:p>
            <a:pPr algn="l">
              <a:lnSpc>
                <a:spcPct val="135000"/>
              </a:lnSpc>
            </a:pPr>
            <a:r>
              <a:rPr sz="9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통계적 추론 · 사건 시점 분석 · 검증</a:t>
            </a:r>
          </a:p>
        </p:txBody>
      </p:sp>
      <p:sp>
        <p:nvSpPr>
          <p:cNvPr id="7" name="Rectangle 6"/>
          <p:cNvSpPr/>
          <p:nvPr/>
        </p:nvSpPr>
        <p:spPr>
          <a:xfrm>
            <a:off x="3447288" y="1463040"/>
            <a:ext cx="3438144" cy="7772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593592" y="1609344"/>
            <a:ext cx="320040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9A9A"/>
                </a:solidFill>
                <a:latin typeface="Pretendard Medium"/>
                <a:ea typeface="Pretendard Medium"/>
                <a:cs typeface="Pretendard Medium"/>
              </a:rPr>
              <a:t>2  </a:t>
            </a:r>
            <a:r>
              <a:rPr sz="12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AI 모델·시스템 개발</a:t>
            </a:r>
          </a:p>
          <a:p>
            <a:pPr algn="l">
              <a:lnSpc>
                <a:spcPct val="135000"/>
              </a:lnSpc>
            </a:pPr>
            <a:r>
              <a:rPr sz="9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모델 설계·실험 · 에이전트 시스템 · 조직 운영</a:t>
            </a:r>
          </a:p>
        </p:txBody>
      </p:sp>
      <p:sp>
        <p:nvSpPr>
          <p:cNvPr id="9" name="Rectangle 8"/>
          <p:cNvSpPr/>
          <p:nvPr/>
        </p:nvSpPr>
        <p:spPr>
          <a:xfrm>
            <a:off x="6922007" y="1463040"/>
            <a:ext cx="1975104" cy="7772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068312" y="1609344"/>
            <a:ext cx="173736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9A9A"/>
                </a:solidFill>
                <a:latin typeface="Pretendard Medium"/>
                <a:ea typeface="Pretendard Medium"/>
                <a:cs typeface="Pretendard Medium"/>
              </a:rPr>
              <a:t>3  </a:t>
            </a:r>
            <a:r>
              <a:rPr sz="12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산업 현장 적용</a:t>
            </a:r>
          </a:p>
          <a:p>
            <a:pPr algn="l">
              <a:lnSpc>
                <a:spcPct val="135000"/>
              </a:lnSpc>
            </a:pPr>
            <a:r>
              <a:rPr sz="9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데이터 구축부터 실제 활용까지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22395"/>
            <a:ext cx="836676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3657600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9A9A9A"/>
                </a:solidFill>
                <a:latin typeface="Pretendard Medium"/>
                <a:ea typeface="Pretendard Medium"/>
                <a:cs typeface="Pretendard Medium"/>
              </a:rPr>
              <a:t>학업·활동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041648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9A9A9A"/>
                </a:solidFill>
                <a:latin typeface="Pretendard Medium"/>
                <a:ea typeface="Pretendard Medium"/>
                <a:cs typeface="Pretendard Medium"/>
              </a:rPr>
              <a:t>프로젝트</a:t>
            </a:r>
          </a:p>
        </p:txBody>
      </p:sp>
      <p:sp>
        <p:nvSpPr>
          <p:cNvPr id="14" name="Oval 13"/>
          <p:cNvSpPr/>
          <p:nvPr/>
        </p:nvSpPr>
        <p:spPr>
          <a:xfrm>
            <a:off x="1252728" y="3721607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" name="Connector 14"/>
          <p:cNvCxnSpPr/>
          <p:nvPr/>
        </p:nvCxnSpPr>
        <p:spPr>
          <a:xfrm flipV="1">
            <a:off x="1394460" y="3959352"/>
            <a:ext cx="0" cy="64007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463040" y="3886200"/>
            <a:ext cx="0" cy="137159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531620" y="3840480"/>
            <a:ext cx="0" cy="182879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1252728" y="2926079"/>
            <a:ext cx="2194560" cy="6858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학사</a:t>
            </a:r>
          </a:p>
          <a:p>
            <a:pPr algn="l">
              <a:lnSpc>
                <a:spcPct val="130000"/>
              </a:lnSpc>
            </a:pPr>
            <a:r>
              <a:rPr sz="9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통계적 추론·모델링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2021.03 ~ 2025.08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1463040" y="3621024"/>
            <a:ext cx="0" cy="100583"/>
          </a:xfrm>
          <a:prstGeom prst="line">
            <a:avLst/>
          </a:prstGeom>
          <a:ln w="9525">
            <a:solidFill>
              <a:srgbClr val="9A9A9A"/>
            </a:solidFill>
          </a:ln>
        </p:spPr>
      </p:cxnSp>
      <p:sp>
        <p:nvSpPr>
          <p:cNvPr id="20" name="Oval 19"/>
          <p:cNvSpPr/>
          <p:nvPr/>
        </p:nvSpPr>
        <p:spPr>
          <a:xfrm>
            <a:off x="3035808" y="3721607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1" name="Connector 20"/>
          <p:cNvCxnSpPr/>
          <p:nvPr/>
        </p:nvCxnSpPr>
        <p:spPr>
          <a:xfrm flipV="1">
            <a:off x="3172968" y="3822191"/>
            <a:ext cx="0" cy="219457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22" name="Freeform 21"/>
          <p:cNvSpPr/>
          <p:nvPr/>
        </p:nvSpPr>
        <p:spPr>
          <a:xfrm>
            <a:off x="3172968" y="3831335"/>
            <a:ext cx="164592" cy="100585"/>
          </a:xfrm>
          <a:custGeom>
            <a:avLst/>
            <a:gdLst/>
            <a:ahLst/>
            <a:cxnLst/>
            <a:rect l="l" t="t" r="r" b="b"/>
            <a:pathLst>
              <a:path w="164592" h="100585">
                <a:moveTo>
                  <a:pt x="0" y="0"/>
                </a:moveTo>
                <a:lnTo>
                  <a:pt x="164592" y="50293"/>
                </a:lnTo>
                <a:lnTo>
                  <a:pt x="0" y="100585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035808" y="2926079"/>
            <a:ext cx="2194560" cy="6858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데이터사이언스·AI 학회</a:t>
            </a:r>
          </a:p>
          <a:p>
            <a:pPr algn="l">
              <a:lnSpc>
                <a:spcPct val="130000"/>
              </a:lnSpc>
            </a:pPr>
            <a:r>
              <a:rPr sz="9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학회장 · 프로젝트 리딩·조직 운영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2025.01 ~ 2026.06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3246120" y="3621024"/>
            <a:ext cx="0" cy="100583"/>
          </a:xfrm>
          <a:prstGeom prst="line">
            <a:avLst/>
          </a:prstGeom>
          <a:ln w="9525">
            <a:solidFill>
              <a:srgbClr val="9A9A9A"/>
            </a:solidFill>
          </a:ln>
        </p:spPr>
      </p:cxnSp>
      <p:sp>
        <p:nvSpPr>
          <p:cNvPr id="25" name="Oval 24"/>
          <p:cNvSpPr/>
          <p:nvPr/>
        </p:nvSpPr>
        <p:spPr>
          <a:xfrm>
            <a:off x="5138927" y="3721607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" name="Connector 25"/>
          <p:cNvCxnSpPr/>
          <p:nvPr/>
        </p:nvCxnSpPr>
        <p:spPr>
          <a:xfrm flipV="1">
            <a:off x="5262372" y="3840480"/>
            <a:ext cx="86868" cy="36576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5262372" y="3877056"/>
            <a:ext cx="86868" cy="54864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5262372" y="3877056"/>
            <a:ext cx="86868" cy="146303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5262372" y="3840480"/>
            <a:ext cx="86868" cy="146303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5262372" y="3931920"/>
            <a:ext cx="86868" cy="54863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5262372" y="3986783"/>
            <a:ext cx="86868" cy="36576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5349240" y="3840480"/>
            <a:ext cx="86867" cy="91440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5349240" y="3931920"/>
            <a:ext cx="86867" cy="0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cxnSp>
        <p:nvCxnSpPr>
          <p:cNvPr id="34" name="Connector 33"/>
          <p:cNvCxnSpPr/>
          <p:nvPr/>
        </p:nvCxnSpPr>
        <p:spPr>
          <a:xfrm flipV="1">
            <a:off x="5349240" y="3931920"/>
            <a:ext cx="86867" cy="91439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sp>
        <p:nvSpPr>
          <p:cNvPr id="35" name="Oval 34"/>
          <p:cNvSpPr/>
          <p:nvPr/>
        </p:nvSpPr>
        <p:spPr>
          <a:xfrm>
            <a:off x="5241798" y="3856482"/>
            <a:ext cx="41148" cy="411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5241798" y="3966209"/>
            <a:ext cx="41148" cy="411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5328666" y="3819906"/>
            <a:ext cx="41148" cy="411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5328666" y="3911346"/>
            <a:ext cx="41148" cy="411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5328666" y="4002785"/>
            <a:ext cx="41148" cy="411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5415533" y="3911346"/>
            <a:ext cx="41148" cy="411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138927" y="2926079"/>
            <a:ext cx="2194560" cy="6858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석사 · 딥러닝</a:t>
            </a:r>
          </a:p>
          <a:p>
            <a:pPr algn="l">
              <a:lnSpc>
                <a:spcPct val="130000"/>
              </a:lnSpc>
            </a:pPr>
            <a:r>
              <a:rPr sz="9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모델 설계·실험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2025.09 ~</a:t>
            </a:r>
          </a:p>
        </p:txBody>
      </p:sp>
      <p:cxnSp>
        <p:nvCxnSpPr>
          <p:cNvPr id="42" name="Connector 41"/>
          <p:cNvCxnSpPr/>
          <p:nvPr/>
        </p:nvCxnSpPr>
        <p:spPr>
          <a:xfrm flipV="1">
            <a:off x="5349240" y="3621024"/>
            <a:ext cx="0" cy="100583"/>
          </a:xfrm>
          <a:prstGeom prst="line">
            <a:avLst/>
          </a:prstGeom>
          <a:ln w="9525">
            <a:solidFill>
              <a:srgbClr val="9A9A9A"/>
            </a:solidFill>
          </a:ln>
        </p:spPr>
      </p:cxnSp>
      <p:sp>
        <p:nvSpPr>
          <p:cNvPr id="43" name="Oval 42"/>
          <p:cNvSpPr/>
          <p:nvPr/>
        </p:nvSpPr>
        <p:spPr>
          <a:xfrm>
            <a:off x="2167128" y="3721607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Freeform 43"/>
          <p:cNvSpPr/>
          <p:nvPr/>
        </p:nvSpPr>
        <p:spPr>
          <a:xfrm>
            <a:off x="2276856" y="3822191"/>
            <a:ext cx="210312" cy="210313"/>
          </a:xfrm>
          <a:custGeom>
            <a:avLst/>
            <a:gdLst/>
            <a:ahLst/>
            <a:cxnLst/>
            <a:rect l="l" t="t" r="r" b="b"/>
            <a:pathLst>
              <a:path w="210312" h="210313">
                <a:moveTo>
                  <a:pt x="0" y="0"/>
                </a:moveTo>
                <a:lnTo>
                  <a:pt x="0" y="210313"/>
                </a:lnTo>
                <a:lnTo>
                  <a:pt x="210312" y="210313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Freeform 44"/>
          <p:cNvSpPr/>
          <p:nvPr/>
        </p:nvSpPr>
        <p:spPr>
          <a:xfrm>
            <a:off x="2276856" y="3849624"/>
            <a:ext cx="192024" cy="109728"/>
          </a:xfrm>
          <a:custGeom>
            <a:avLst/>
            <a:gdLst/>
            <a:ahLst/>
            <a:cxnLst/>
            <a:rect l="l" t="t" r="r" b="b"/>
            <a:pathLst>
              <a:path w="192024" h="109728">
                <a:moveTo>
                  <a:pt x="0" y="0"/>
                </a:moveTo>
                <a:lnTo>
                  <a:pt x="54864" y="0"/>
                </a:lnTo>
                <a:lnTo>
                  <a:pt x="54864" y="54863"/>
                </a:lnTo>
                <a:lnTo>
                  <a:pt x="109728" y="54863"/>
                </a:lnTo>
                <a:lnTo>
                  <a:pt x="109728" y="109728"/>
                </a:lnTo>
                <a:lnTo>
                  <a:pt x="192024" y="109728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2167128" y="4261104"/>
            <a:ext cx="2194560" cy="6858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생존분석 연구보조</a:t>
            </a:r>
          </a:p>
          <a:p>
            <a:pPr algn="l">
              <a:lnSpc>
                <a:spcPct val="130000"/>
              </a:lnSpc>
            </a:pPr>
            <a:r>
              <a:rPr sz="9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사건 시점 분석·통계적 검증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2025.06 ~ 2026.08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2377440" y="4142232"/>
            <a:ext cx="0" cy="100584"/>
          </a:xfrm>
          <a:prstGeom prst="line">
            <a:avLst/>
          </a:prstGeom>
          <a:ln w="9525">
            <a:solidFill>
              <a:srgbClr val="9A9A9A"/>
            </a:solidFill>
          </a:ln>
        </p:spPr>
      </p:cxnSp>
      <p:sp>
        <p:nvSpPr>
          <p:cNvPr id="48" name="Oval 47"/>
          <p:cNvSpPr/>
          <p:nvPr/>
        </p:nvSpPr>
        <p:spPr>
          <a:xfrm>
            <a:off x="3767327" y="3721607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9" name="Connector 48"/>
          <p:cNvCxnSpPr/>
          <p:nvPr/>
        </p:nvCxnSpPr>
        <p:spPr>
          <a:xfrm>
            <a:off x="3899915" y="3995928"/>
            <a:ext cx="155448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50" name="Connector 49"/>
          <p:cNvCxnSpPr/>
          <p:nvPr/>
        </p:nvCxnSpPr>
        <p:spPr>
          <a:xfrm flipH="1" flipV="1">
            <a:off x="3977639" y="3854196"/>
            <a:ext cx="77724" cy="14173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51" name="Connector 50"/>
          <p:cNvCxnSpPr/>
          <p:nvPr/>
        </p:nvCxnSpPr>
        <p:spPr>
          <a:xfrm flipH="1">
            <a:off x="3899915" y="3854196"/>
            <a:ext cx="77724" cy="14173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52" name="Oval 51"/>
          <p:cNvSpPr/>
          <p:nvPr/>
        </p:nvSpPr>
        <p:spPr>
          <a:xfrm>
            <a:off x="3870198" y="3966210"/>
            <a:ext cx="59436" cy="594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4025646" y="3966210"/>
            <a:ext cx="59436" cy="594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3947922" y="3824478"/>
            <a:ext cx="59436" cy="594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3767327" y="4261104"/>
            <a:ext cx="2194560" cy="6858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멀티에이전트 시스템 3건</a:t>
            </a:r>
          </a:p>
          <a:p>
            <a:pPr algn="l">
              <a:lnSpc>
                <a:spcPct val="130000"/>
              </a:lnSpc>
            </a:pPr>
            <a:r>
              <a:rPr sz="9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데이터·AI 시스템 통합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2025.07 ~ 2026.06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3977639" y="4142232"/>
            <a:ext cx="0" cy="100584"/>
          </a:xfrm>
          <a:prstGeom prst="line">
            <a:avLst/>
          </a:prstGeom>
          <a:ln w="9525">
            <a:solidFill>
              <a:srgbClr val="9A9A9A"/>
            </a:solidFill>
          </a:ln>
        </p:spPr>
      </p:cxnSp>
      <p:sp>
        <p:nvSpPr>
          <p:cNvPr id="57" name="Oval 56"/>
          <p:cNvSpPr/>
          <p:nvPr/>
        </p:nvSpPr>
        <p:spPr>
          <a:xfrm>
            <a:off x="5687568" y="3721607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Freeform 57"/>
          <p:cNvSpPr/>
          <p:nvPr/>
        </p:nvSpPr>
        <p:spPr>
          <a:xfrm>
            <a:off x="5797296" y="3835907"/>
            <a:ext cx="201168" cy="100584"/>
          </a:xfrm>
          <a:custGeom>
            <a:avLst/>
            <a:gdLst/>
            <a:ahLst/>
            <a:cxnLst/>
            <a:rect l="l" t="t" r="r" b="b"/>
            <a:pathLst>
              <a:path w="201168" h="100584">
                <a:moveTo>
                  <a:pt x="0" y="50293"/>
                </a:moveTo>
                <a:lnTo>
                  <a:pt x="100584" y="0"/>
                </a:lnTo>
                <a:lnTo>
                  <a:pt x="201168" y="50293"/>
                </a:lnTo>
                <a:lnTo>
                  <a:pt x="100584" y="100584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Freeform 58"/>
          <p:cNvSpPr/>
          <p:nvPr/>
        </p:nvSpPr>
        <p:spPr>
          <a:xfrm>
            <a:off x="5797296" y="3927347"/>
            <a:ext cx="201168" cy="50292"/>
          </a:xfrm>
          <a:custGeom>
            <a:avLst/>
            <a:gdLst/>
            <a:ahLst/>
            <a:cxnLst/>
            <a:rect l="l" t="t" r="r" b="b"/>
            <a:pathLst>
              <a:path w="201168" h="50292">
                <a:moveTo>
                  <a:pt x="0" y="0"/>
                </a:moveTo>
                <a:lnTo>
                  <a:pt x="100584" y="50292"/>
                </a:lnTo>
                <a:lnTo>
                  <a:pt x="201168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Freeform 59"/>
          <p:cNvSpPr/>
          <p:nvPr/>
        </p:nvSpPr>
        <p:spPr>
          <a:xfrm>
            <a:off x="5797296" y="3986783"/>
            <a:ext cx="201168" cy="50293"/>
          </a:xfrm>
          <a:custGeom>
            <a:avLst/>
            <a:gdLst/>
            <a:ahLst/>
            <a:cxnLst/>
            <a:rect l="l" t="t" r="r" b="b"/>
            <a:pathLst>
              <a:path w="201168" h="50293">
                <a:moveTo>
                  <a:pt x="0" y="0"/>
                </a:moveTo>
                <a:lnTo>
                  <a:pt x="100584" y="50293"/>
                </a:lnTo>
                <a:lnTo>
                  <a:pt x="201168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5687568" y="4261104"/>
            <a:ext cx="2194560" cy="6858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3D CT 멀티모달 모델</a:t>
            </a:r>
          </a:p>
          <a:p>
            <a:pPr algn="l">
              <a:lnSpc>
                <a:spcPct val="130000"/>
              </a:lnSpc>
            </a:pPr>
            <a:r>
              <a:rPr sz="9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모델 설계·실험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2025.09 ~ 2026.02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5897880" y="4142232"/>
            <a:ext cx="0" cy="100584"/>
          </a:xfrm>
          <a:prstGeom prst="line">
            <a:avLst/>
          </a:prstGeom>
          <a:ln w="9525">
            <a:solidFill>
              <a:srgbClr val="FFFFFF"/>
            </a:solidFill>
          </a:ln>
        </p:spPr>
      </p:cxnSp>
      <p:sp>
        <p:nvSpPr>
          <p:cNvPr id="63" name="Oval 62"/>
          <p:cNvSpPr/>
          <p:nvPr/>
        </p:nvSpPr>
        <p:spPr>
          <a:xfrm>
            <a:off x="7552944" y="3575303"/>
            <a:ext cx="713232" cy="713232"/>
          </a:xfrm>
          <a:prstGeom prst="ellipse">
            <a:avLst/>
          </a:prstGeom>
          <a:solidFill>
            <a:srgbClr val="000000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Freeform 63"/>
          <p:cNvSpPr/>
          <p:nvPr/>
        </p:nvSpPr>
        <p:spPr>
          <a:xfrm>
            <a:off x="7827264" y="3831335"/>
            <a:ext cx="164592" cy="210313"/>
          </a:xfrm>
          <a:custGeom>
            <a:avLst/>
            <a:gdLst/>
            <a:ahLst/>
            <a:cxnLst/>
            <a:rect l="l" t="t" r="r" b="b"/>
            <a:pathLst>
              <a:path w="164592" h="210313">
                <a:moveTo>
                  <a:pt x="0" y="210313"/>
                </a:moveTo>
                <a:lnTo>
                  <a:pt x="0" y="0"/>
                </a:lnTo>
                <a:lnTo>
                  <a:pt x="164592" y="0"/>
                </a:lnTo>
                <a:lnTo>
                  <a:pt x="164592" y="210313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5" name="Connector 64"/>
          <p:cNvCxnSpPr/>
          <p:nvPr/>
        </p:nvCxnSpPr>
        <p:spPr>
          <a:xfrm>
            <a:off x="7868412" y="3886200"/>
            <a:ext cx="82296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cxnSp>
        <p:nvCxnSpPr>
          <p:cNvPr id="66" name="Connector 65"/>
          <p:cNvCxnSpPr/>
          <p:nvPr/>
        </p:nvCxnSpPr>
        <p:spPr>
          <a:xfrm>
            <a:off x="7868412" y="3941063"/>
            <a:ext cx="82296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cxnSp>
        <p:nvCxnSpPr>
          <p:cNvPr id="67" name="Connector 66"/>
          <p:cNvCxnSpPr/>
          <p:nvPr/>
        </p:nvCxnSpPr>
        <p:spPr>
          <a:xfrm>
            <a:off x="7909560" y="3986783"/>
            <a:ext cx="0" cy="54865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68" name="TextBox 67"/>
          <p:cNvSpPr txBox="1"/>
          <p:nvPr/>
        </p:nvSpPr>
        <p:spPr>
          <a:xfrm>
            <a:off x="7406640" y="4434840"/>
            <a:ext cx="2377440" cy="8229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BCG X 인턴</a:t>
            </a:r>
          </a:p>
          <a:p>
            <a:pPr algn="l">
              <a:lnSpc>
                <a:spcPct val="130000"/>
              </a:lnSpc>
            </a:pPr>
            <a:r>
              <a:rPr sz="9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데이터마트 · 예측 모델 · 분석 화면 · LLM 활용</a:t>
            </a:r>
          </a:p>
          <a:p>
            <a:pPr algn="l">
              <a:lnSpc>
                <a:spcPct val="130000"/>
              </a:lnSpc>
            </a:pPr>
            <a:r>
              <a:rPr sz="9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실제 데이터와 사용자 기반 개발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2026.06 ~ 2026.09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8915400" y="3931920"/>
            <a:ext cx="274320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70" name="Freeform 69"/>
          <p:cNvSpPr/>
          <p:nvPr/>
        </p:nvSpPr>
        <p:spPr>
          <a:xfrm>
            <a:off x="9098280" y="3858768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9326880" y="3017520"/>
            <a:ext cx="2361895" cy="19202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통계적 검증</a:t>
            </a:r>
          </a:p>
          <a:p>
            <a:pPr algn="l">
              <a:lnSpc>
                <a:spcPct val="135000"/>
              </a:lnSpc>
            </a:pP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AI 시스템 구현</a:t>
            </a:r>
          </a:p>
          <a:p>
            <a:pPr algn="l">
              <a:lnSpc>
                <a:spcPct val="135000"/>
              </a:lnSpc>
            </a:pP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산업 현장 적용</a:t>
            </a:r>
          </a:p>
          <a:p>
            <a:pPr algn="l">
              <a:lnSpc>
                <a:spcPct val="135000"/>
              </a:lnSpc>
            </a:pPr>
            <a:endParaRPr sz="1200" b="1">
              <a:solidFill>
                <a:srgbClr val="000000"/>
              </a:solidFill>
              <a:latin typeface="Pretendard"/>
              <a:ea typeface="Pretendard"/>
              <a:cs typeface="Pretendard"/>
            </a:endParaRPr>
          </a:p>
          <a:p>
            <a:pPr algn="l">
              <a:lnSpc>
                <a:spcPct val="135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→ 금융 모형 운영 자동화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2장 프로젝트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36576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02 역량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신용평가모형의 점검부터 개선안 검증·보고까지 자동화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24128"/>
            <a:ext cx="1109441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공개 대출 데이터(Lending Club 226만 건)로 과거 13개 분기를 재현 · 단독 설계·구현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신규 대출의 24개월 상각 위험을 예측하는 모형 1개가 시간이 지나 실제와 어긋날 때, 유지·재보정·재학습 중 무엇을 할지 매 분기 자동으로 판단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14309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856231"/>
            <a:ext cx="2202103" cy="5029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9A9A9A"/>
                </a:solidFill>
                <a:latin typeface="Pretendard Medium"/>
                <a:ea typeface="Pretendard Medium"/>
                <a:cs typeface="Pretendard Medium"/>
              </a:rPr>
              <a:t>1  </a:t>
            </a: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정기 실행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그 분기에 알 수 있던 데이터만</a:t>
            </a:r>
          </a:p>
        </p:txBody>
      </p:sp>
      <p:sp>
        <p:nvSpPr>
          <p:cNvPr id="8" name="Freeform 7"/>
          <p:cNvSpPr/>
          <p:nvPr/>
        </p:nvSpPr>
        <p:spPr>
          <a:xfrm>
            <a:off x="2823895" y="1993392"/>
            <a:ext cx="73152" cy="146304"/>
          </a:xfrm>
          <a:custGeom>
            <a:avLst/>
            <a:gdLst/>
            <a:ahLst/>
            <a:cxnLst/>
            <a:rect l="l" t="t" r="r" b="b"/>
            <a:pathLst>
              <a:path w="73152" h="146304">
                <a:moveTo>
                  <a:pt x="0" y="0"/>
                </a:moveTo>
                <a:lnTo>
                  <a:pt x="73152" y="73151"/>
                </a:lnTo>
                <a:lnTo>
                  <a:pt x="0" y="146304"/>
                </a:lnTo>
              </a:path>
            </a:pathLst>
          </a:custGeom>
          <a:noFill/>
          <a:ln w="1270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025063" y="1856231"/>
            <a:ext cx="2202103" cy="5029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9A9A9A"/>
                </a:solidFill>
                <a:latin typeface="Pretendard Medium"/>
                <a:ea typeface="Pretendard Medium"/>
                <a:cs typeface="Pretendard Medium"/>
              </a:rPr>
              <a:t>2  </a:t>
            </a: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점검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신규 대출 · 중간 신호 · 확정 결과</a:t>
            </a:r>
          </a:p>
        </p:txBody>
      </p:sp>
      <p:sp>
        <p:nvSpPr>
          <p:cNvPr id="10" name="Freeform 9"/>
          <p:cNvSpPr/>
          <p:nvPr/>
        </p:nvSpPr>
        <p:spPr>
          <a:xfrm>
            <a:off x="5208879" y="1993392"/>
            <a:ext cx="73152" cy="146304"/>
          </a:xfrm>
          <a:custGeom>
            <a:avLst/>
            <a:gdLst/>
            <a:ahLst/>
            <a:cxnLst/>
            <a:rect l="l" t="t" r="r" b="b"/>
            <a:pathLst>
              <a:path w="73152" h="146304">
                <a:moveTo>
                  <a:pt x="0" y="0"/>
                </a:moveTo>
                <a:lnTo>
                  <a:pt x="73152" y="73151"/>
                </a:lnTo>
                <a:lnTo>
                  <a:pt x="0" y="146304"/>
                </a:lnTo>
              </a:path>
            </a:pathLst>
          </a:custGeom>
          <a:noFill/>
          <a:ln w="1270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10047" y="1856231"/>
            <a:ext cx="2202103" cy="5029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9A9A9A"/>
                </a:solidFill>
                <a:latin typeface="Pretendard Medium"/>
                <a:ea typeface="Pretendard Medium"/>
                <a:cs typeface="Pretendard Medium"/>
              </a:rPr>
              <a:t>3  </a:t>
            </a: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이상 시 개선안 검증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유지·재보정·재학습 10종 비교</a:t>
            </a:r>
          </a:p>
        </p:txBody>
      </p:sp>
      <p:sp>
        <p:nvSpPr>
          <p:cNvPr id="12" name="Freeform 11"/>
          <p:cNvSpPr/>
          <p:nvPr/>
        </p:nvSpPr>
        <p:spPr>
          <a:xfrm>
            <a:off x="7593863" y="1993392"/>
            <a:ext cx="73152" cy="146304"/>
          </a:xfrm>
          <a:custGeom>
            <a:avLst/>
            <a:gdLst/>
            <a:ahLst/>
            <a:cxnLst/>
            <a:rect l="l" t="t" r="r" b="b"/>
            <a:pathLst>
              <a:path w="73152" h="146304">
                <a:moveTo>
                  <a:pt x="0" y="0"/>
                </a:moveTo>
                <a:lnTo>
                  <a:pt x="73152" y="73151"/>
                </a:lnTo>
                <a:lnTo>
                  <a:pt x="0" y="146304"/>
                </a:lnTo>
              </a:path>
            </a:pathLst>
          </a:custGeom>
          <a:noFill/>
          <a:ln w="1270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95031" y="1856231"/>
            <a:ext cx="2202103" cy="5029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9A9A9A"/>
                </a:solidFill>
                <a:latin typeface="Pretendard Medium"/>
                <a:ea typeface="Pretendard Medium"/>
                <a:cs typeface="Pretendard Medium"/>
              </a:rPr>
              <a:t>4  </a:t>
            </a: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보고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상태 · 권고 · 근거 3개, 수치 자동 대조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80015" y="1920240"/>
            <a:ext cx="146304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변경은</a:t>
            </a:r>
          </a:p>
          <a:p>
            <a:pPr algn="l">
              <a:lnSpc>
                <a:spcPct val="125000"/>
              </a:lnSpc>
            </a:pPr>
            <a:r>
              <a:rPr sz="9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담당자 승인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482405"/>
            <a:ext cx="1109441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app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651760"/>
            <a:ext cx="5760720" cy="336042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548640" y="6057899"/>
            <a:ext cx="57607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실제 생성 화면 · 2018년 1분기 판단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2651760"/>
            <a:ext cx="4922215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조기 경고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2852928"/>
            <a:ext cx="4922215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2분기 먼저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3328415"/>
            <a:ext cx="492221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과소 예측을 12개월 중간 신호로 2016Q4에 포착. 24개월 확정 결과로는 2017Q2에 확인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20840" y="3597972"/>
            <a:ext cx="492221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720840" y="3675887"/>
            <a:ext cx="4922215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예측 오차 (사후 확인)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877055"/>
            <a:ext cx="4922215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33% → 14%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4352544"/>
            <a:ext cx="492221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2018Q1 권고(재학습(LightGBM+확장 변수))를 판단 당시 보유 대출 461,365건에 적용. AUC 0.687 → 0.714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4622101"/>
            <a:ext cx="492221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720840" y="4700016"/>
            <a:ext cx="4922215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모형 변경 (13개 분기)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4901184"/>
            <a:ext cx="4922215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13회 → 2회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5376672"/>
            <a:ext cx="492221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매 분기 재학습 대비. 예측 오차는 비슷 (20.0% vs 19.5%, 고정 모형 27.5%)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20840" y="5783389"/>
            <a:ext cx="49222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720840" y="5852160"/>
            <a:ext cx="4922215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수행</a:t>
            </a: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정답·시점 검증 · 모형 개발 · 판정 규칙 · 후보 검증 엔진 · 무인 실행·보고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한계</a:t>
            </a: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상각 시점은 마지막 납부월 기준 근사 · 판단 후 신규 대출 성과는 데이터 범위 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510528"/>
            <a:ext cx="11094415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공개 대출 데이터 기반 과거 분기 재현·프로토타입. 실제 금융회사 운영 아님. 결과 확정 시점 가정(상각 지연 4·5·6개월)은 별도 검증. 정책 비교는 각 분기 당시 데이터로 결정하고 이후 확정 결과로 평가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833</Words>
  <Application>Microsoft Office PowerPoint</Application>
  <PresentationFormat>와이드스크린</PresentationFormat>
  <Paragraphs>89</Paragraphs>
  <Slides>2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8" baseType="lpstr">
      <vt:lpstr>Pretendard Medium</vt:lpstr>
      <vt:lpstr>Arial</vt:lpstr>
      <vt:lpstr>Pretendard SemiBold</vt:lpstr>
      <vt:lpstr>Pretendard</vt:lpstr>
      <vt:lpstr>Calibri</vt:lpstr>
      <vt:lpstr>Office Theme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리스크 역량PT</dc:title>
  <dc:subject/>
  <dc:creator>김연주</dc:creator>
  <cp:keywords/>
  <dc:description>generated using python-pptx</dc:description>
  <cp:lastModifiedBy>연주 김</cp:lastModifiedBy>
  <cp:revision>2</cp:revision>
  <dcterms:created xsi:type="dcterms:W3CDTF">2013-01-27T09:14:16Z</dcterms:created>
  <dcterms:modified xsi:type="dcterms:W3CDTF">2026-10-22T02:55:37Z</dcterms:modified>
  <cp:category/>
</cp:coreProperties>
</file>