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embeddedFontLst>
    <p:embeddedFont>
      <p:font typeface="Pretendard" panose="02000003000000020004" pitchFamily="2" charset="-127"/>
      <p:regular r:id="rId4"/>
      <p:bold r:id="rId5"/>
    </p:embeddedFont>
    <p:embeddedFont>
      <p:font typeface="Pretendard Medium" panose="02000003000000020004" pitchFamily="2" charset="-127"/>
      <p:regular r:id="rId6"/>
    </p:embeddedFont>
    <p:embeddedFont>
      <p:font typeface="Pretendard SemiBold" panose="02000003000000020004" pitchFamily="2" charset="-127"/>
      <p:bold r:id="rId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font" Target="fonts/font4.fntdata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tableStyles" Target="tableStyles.xml"/><Relationship Id="rId5" Type="http://schemas.openxmlformats.org/officeDocument/2006/relationships/font" Target="fonts/font2.fntdata"/><Relationship Id="rId10" Type="http://schemas.openxmlformats.org/officeDocument/2006/relationships/theme" Target="theme/theme1.xml"/><Relationship Id="rId4" Type="http://schemas.openxmlformats.org/officeDocument/2006/relationships/font" Target="fonts/font1.fntdata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Experience Timeline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3957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154679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학업, 경험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23659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8549640" y="3246120"/>
            <a:ext cx="292608" cy="46634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548640" y="4343400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프로젝트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442531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 flipV="1">
            <a:off x="8549640" y="3968496"/>
            <a:ext cx="292608" cy="46634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1600200" y="1371600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학사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2021.03 ~ 2025.08</a:t>
            </a: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통계적 추론과 모델링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00200" y="1618488"/>
            <a:ext cx="3424270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1600200" y="1700784"/>
            <a:ext cx="0" cy="1335024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1389888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Freeform 13"/>
          <p:cNvSpPr/>
          <p:nvPr/>
        </p:nvSpPr>
        <p:spPr>
          <a:xfrm>
            <a:off x="1481328" y="3163824"/>
            <a:ext cx="237744" cy="109727"/>
          </a:xfrm>
          <a:custGeom>
            <a:avLst/>
            <a:gdLst/>
            <a:ahLst/>
            <a:cxnLst/>
            <a:rect l="l" t="t" r="r" b="b"/>
            <a:pathLst>
              <a:path w="237744" h="109727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7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Freeform 14"/>
          <p:cNvSpPr/>
          <p:nvPr/>
        </p:nvSpPr>
        <p:spPr>
          <a:xfrm>
            <a:off x="1536192" y="3246120"/>
            <a:ext cx="128016" cy="64007"/>
          </a:xfrm>
          <a:custGeom>
            <a:avLst/>
            <a:gdLst/>
            <a:ahLst/>
            <a:cxnLst/>
            <a:rect l="l" t="t" r="r" b="b"/>
            <a:pathLst>
              <a:path w="128016" h="64007">
                <a:moveTo>
                  <a:pt x="0" y="0"/>
                </a:moveTo>
                <a:lnTo>
                  <a:pt x="0" y="64007"/>
                </a:lnTo>
                <a:lnTo>
                  <a:pt x="128016" y="64007"/>
                </a:lnTo>
                <a:lnTo>
                  <a:pt x="128016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6" name="Connector 15"/>
          <p:cNvCxnSpPr/>
          <p:nvPr/>
        </p:nvCxnSpPr>
        <p:spPr>
          <a:xfrm>
            <a:off x="1700784" y="3227832"/>
            <a:ext cx="0" cy="82295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2926080" y="1801368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외국인 학생 멘토링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2024.09 ~ 2024.12</a:t>
            </a: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통계학 전공 학업 지원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2048256"/>
            <a:ext cx="572288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/>
          <p:nvPr/>
        </p:nvCxnSpPr>
        <p:spPr>
          <a:xfrm>
            <a:off x="2926080" y="2130552"/>
            <a:ext cx="0" cy="905256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20" name="Oval 19"/>
          <p:cNvSpPr/>
          <p:nvPr/>
        </p:nvSpPr>
        <p:spPr>
          <a:xfrm>
            <a:off x="2715768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Freeform 20"/>
          <p:cNvSpPr/>
          <p:nvPr/>
        </p:nvSpPr>
        <p:spPr>
          <a:xfrm>
            <a:off x="2825496" y="3172968"/>
            <a:ext cx="201168" cy="164592"/>
          </a:xfrm>
          <a:custGeom>
            <a:avLst/>
            <a:gdLst/>
            <a:ahLst/>
            <a:cxnLst/>
            <a:rect l="l" t="t" r="r" b="b"/>
            <a:pathLst>
              <a:path w="201168" h="164592">
                <a:moveTo>
                  <a:pt x="0" y="0"/>
                </a:moveTo>
                <a:lnTo>
                  <a:pt x="201168" y="0"/>
                </a:lnTo>
                <a:lnTo>
                  <a:pt x="201168" y="109728"/>
                </a:lnTo>
                <a:lnTo>
                  <a:pt x="82296" y="109728"/>
                </a:lnTo>
                <a:lnTo>
                  <a:pt x="36576" y="164592"/>
                </a:lnTo>
                <a:lnTo>
                  <a:pt x="45720" y="109728"/>
                </a:lnTo>
                <a:lnTo>
                  <a:pt x="0" y="109728"/>
                </a:lnTo>
                <a:close/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" name="Connector 21"/>
          <p:cNvCxnSpPr/>
          <p:nvPr/>
        </p:nvCxnSpPr>
        <p:spPr>
          <a:xfrm>
            <a:off x="2866644" y="3214115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2866644" y="3246120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3689131" y="2231136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인공지능 학회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2025.01 ~ 2026.07</a:t>
            </a: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학회장, 운영팀장, 스터디 진행, 프로젝트 진행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89131" y="2478024"/>
            <a:ext cx="3433729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6" name="Connector 25"/>
          <p:cNvCxnSpPr/>
          <p:nvPr/>
        </p:nvCxnSpPr>
        <p:spPr>
          <a:xfrm>
            <a:off x="3689131" y="2560320"/>
            <a:ext cx="0" cy="475488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27" name="Oval 26"/>
          <p:cNvSpPr/>
          <p:nvPr/>
        </p:nvSpPr>
        <p:spPr>
          <a:xfrm>
            <a:off x="3478819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3606835" y="3168396"/>
            <a:ext cx="64008" cy="640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Freeform 28"/>
          <p:cNvSpPr/>
          <p:nvPr/>
        </p:nvSpPr>
        <p:spPr>
          <a:xfrm>
            <a:off x="3588547" y="3273551"/>
            <a:ext cx="100584" cy="54864"/>
          </a:xfrm>
          <a:custGeom>
            <a:avLst/>
            <a:gdLst/>
            <a:ahLst/>
            <a:cxnLst/>
            <a:rect l="l" t="t" r="r" b="b"/>
            <a:pathLst>
              <a:path w="100584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4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716563" y="3172968"/>
            <a:ext cx="54864" cy="5486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Freeform 30"/>
          <p:cNvSpPr/>
          <p:nvPr/>
        </p:nvSpPr>
        <p:spPr>
          <a:xfrm>
            <a:off x="3693703" y="3273551"/>
            <a:ext cx="100584" cy="54864"/>
          </a:xfrm>
          <a:custGeom>
            <a:avLst/>
            <a:gdLst/>
            <a:ahLst/>
            <a:cxnLst/>
            <a:rect l="l" t="t" r="r" b="b"/>
            <a:pathLst>
              <a:path w="100584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4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215233" y="2660904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석사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2025.09 ~ 2027.02</a:t>
            </a: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딥러닝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15233" y="2907792"/>
            <a:ext cx="3242966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4" name="Connector 33"/>
          <p:cNvCxnSpPr/>
          <p:nvPr/>
        </p:nvCxnSpPr>
        <p:spPr>
          <a:xfrm>
            <a:off x="5215233" y="2990088"/>
            <a:ext cx="0" cy="4572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35" name="Oval 34"/>
          <p:cNvSpPr/>
          <p:nvPr/>
        </p:nvSpPr>
        <p:spPr>
          <a:xfrm>
            <a:off x="5004921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Freeform 35"/>
          <p:cNvSpPr/>
          <p:nvPr/>
        </p:nvSpPr>
        <p:spPr>
          <a:xfrm>
            <a:off x="5096361" y="3163824"/>
            <a:ext cx="237744" cy="109727"/>
          </a:xfrm>
          <a:custGeom>
            <a:avLst/>
            <a:gdLst/>
            <a:ahLst/>
            <a:cxnLst/>
            <a:rect l="l" t="t" r="r" b="b"/>
            <a:pathLst>
              <a:path w="237744" h="109727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7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Freeform 36"/>
          <p:cNvSpPr/>
          <p:nvPr/>
        </p:nvSpPr>
        <p:spPr>
          <a:xfrm>
            <a:off x="5151225" y="3246120"/>
            <a:ext cx="128016" cy="64007"/>
          </a:xfrm>
          <a:custGeom>
            <a:avLst/>
            <a:gdLst/>
            <a:ahLst/>
            <a:cxnLst/>
            <a:rect l="l" t="t" r="r" b="b"/>
            <a:pathLst>
              <a:path w="128016" h="64007">
                <a:moveTo>
                  <a:pt x="0" y="0"/>
                </a:moveTo>
                <a:lnTo>
                  <a:pt x="0" y="64007"/>
                </a:lnTo>
                <a:lnTo>
                  <a:pt x="128016" y="64007"/>
                </a:lnTo>
                <a:lnTo>
                  <a:pt x="128016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37"/>
          <p:cNvCxnSpPr/>
          <p:nvPr/>
        </p:nvCxnSpPr>
        <p:spPr>
          <a:xfrm>
            <a:off x="5315817" y="3227832"/>
            <a:ext cx="0" cy="82295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39" name="Connector 38"/>
          <p:cNvCxnSpPr/>
          <p:nvPr/>
        </p:nvCxnSpPr>
        <p:spPr>
          <a:xfrm>
            <a:off x="160020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226314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292608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358902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3" name="Connector 42"/>
          <p:cNvCxnSpPr/>
          <p:nvPr/>
        </p:nvCxnSpPr>
        <p:spPr>
          <a:xfrm>
            <a:off x="425196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4" name="Connector 43"/>
          <p:cNvCxnSpPr/>
          <p:nvPr/>
        </p:nvCxnSpPr>
        <p:spPr>
          <a:xfrm>
            <a:off x="491490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557784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6" name="Connector 45"/>
          <p:cNvCxnSpPr/>
          <p:nvPr/>
        </p:nvCxnSpPr>
        <p:spPr>
          <a:xfrm>
            <a:off x="624078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7" name="Connector 46"/>
          <p:cNvCxnSpPr/>
          <p:nvPr/>
        </p:nvCxnSpPr>
        <p:spPr>
          <a:xfrm>
            <a:off x="690372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756666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9" name="Connector 48"/>
          <p:cNvCxnSpPr/>
          <p:nvPr/>
        </p:nvCxnSpPr>
        <p:spPr>
          <a:xfrm>
            <a:off x="822960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sp>
        <p:nvSpPr>
          <p:cNvPr id="50" name="Oval 49"/>
          <p:cNvSpPr/>
          <p:nvPr/>
        </p:nvSpPr>
        <p:spPr>
          <a:xfrm>
            <a:off x="154533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1563624" y="4727448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저해상도 조류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2025.01 ~ 2025.03</a:t>
            </a:r>
          </a:p>
        </p:txBody>
      </p:sp>
      <p:sp>
        <p:nvSpPr>
          <p:cNvPr id="52" name="Oval 51"/>
          <p:cNvSpPr/>
          <p:nvPr/>
        </p:nvSpPr>
        <p:spPr>
          <a:xfrm>
            <a:off x="220827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2226564" y="5294376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오늘의집 리뷰 요약 시스템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2025.03 ~ 2025.08</a:t>
            </a:r>
          </a:p>
        </p:txBody>
      </p:sp>
      <p:sp>
        <p:nvSpPr>
          <p:cNvPr id="54" name="Oval 53"/>
          <p:cNvSpPr/>
          <p:nvPr/>
        </p:nvSpPr>
        <p:spPr>
          <a:xfrm>
            <a:off x="287121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889504" y="5861304"/>
            <a:ext cx="1302014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AutoML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2025.05</a:t>
            </a:r>
          </a:p>
        </p:txBody>
      </p:sp>
      <p:sp>
        <p:nvSpPr>
          <p:cNvPr id="56" name="Oval 55"/>
          <p:cNvSpPr/>
          <p:nvPr/>
        </p:nvSpPr>
        <p:spPr>
          <a:xfrm>
            <a:off x="353415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3552444" y="4727448"/>
            <a:ext cx="1760585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담낭암 생존분석 연구 (대형병원)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2025.06 ~ 2025.08</a:t>
            </a:r>
          </a:p>
        </p:txBody>
      </p:sp>
      <p:sp>
        <p:nvSpPr>
          <p:cNvPr id="58" name="Oval 57"/>
          <p:cNvSpPr/>
          <p:nvPr/>
        </p:nvSpPr>
        <p:spPr>
          <a:xfrm>
            <a:off x="419709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4215384" y="5294376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시각장애인용 피부질환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2025.07</a:t>
            </a:r>
          </a:p>
        </p:txBody>
      </p:sp>
      <p:sp>
        <p:nvSpPr>
          <p:cNvPr id="60" name="Oval 59"/>
          <p:cNvSpPr/>
          <p:nvPr/>
        </p:nvSpPr>
        <p:spPr>
          <a:xfrm>
            <a:off x="483717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878324" y="5861304"/>
            <a:ext cx="1242669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환헤지 멀티에이전트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2025.07 ~ 2025.12</a:t>
            </a:r>
          </a:p>
        </p:txBody>
      </p:sp>
      <p:sp>
        <p:nvSpPr>
          <p:cNvPr id="62" name="Oval 61"/>
          <p:cNvSpPr/>
          <p:nvPr/>
        </p:nvSpPr>
        <p:spPr>
          <a:xfrm>
            <a:off x="552297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5541264" y="4727448"/>
            <a:ext cx="1210299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건물별 전력사용량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2025.08 ~ 2025.09</a:t>
            </a:r>
          </a:p>
        </p:txBody>
      </p:sp>
      <p:sp>
        <p:nvSpPr>
          <p:cNvPr id="64" name="Oval 63"/>
          <p:cNvSpPr/>
          <p:nvPr/>
        </p:nvSpPr>
        <p:spPr>
          <a:xfrm>
            <a:off x="616305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204204" y="5294376"/>
            <a:ext cx="1695846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3D 의료 파운데이션 모델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2025.09 ~ 2026.02</a:t>
            </a:r>
          </a:p>
        </p:txBody>
      </p:sp>
      <p:sp>
        <p:nvSpPr>
          <p:cNvPr id="66" name="Oval 65"/>
          <p:cNvSpPr/>
          <p:nvPr/>
        </p:nvSpPr>
        <p:spPr>
          <a:xfrm>
            <a:off x="684885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867144" y="5861304"/>
            <a:ext cx="1577157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의료 데이터 다변량 평균 비교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2025.10</a:t>
            </a:r>
          </a:p>
        </p:txBody>
      </p:sp>
      <p:sp>
        <p:nvSpPr>
          <p:cNvPr id="68" name="Oval 67"/>
          <p:cNvSpPr/>
          <p:nvPr/>
        </p:nvSpPr>
        <p:spPr>
          <a:xfrm>
            <a:off x="748893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7530084" y="4727448"/>
            <a:ext cx="1469257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확률론 시험 자동 채점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2026.02 ~ 2026.03</a:t>
            </a:r>
          </a:p>
        </p:txBody>
      </p:sp>
      <p:sp>
        <p:nvSpPr>
          <p:cNvPr id="70" name="Oval 69"/>
          <p:cNvSpPr/>
          <p:nvPr/>
        </p:nvSpPr>
        <p:spPr>
          <a:xfrm>
            <a:off x="8151875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8193024" y="5294376"/>
            <a:ext cx="2149022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자율주행 ODD 위험평가 에이전트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2026.05 ~ 2026.06</a:t>
            </a:r>
          </a:p>
        </p:txBody>
      </p:sp>
      <p:sp>
        <p:nvSpPr>
          <p:cNvPr id="72" name="Oval 71"/>
          <p:cNvSpPr/>
          <p:nvPr/>
        </p:nvSpPr>
        <p:spPr>
          <a:xfrm>
            <a:off x="8778240" y="3520440"/>
            <a:ext cx="640080" cy="64008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Freeform 72"/>
          <p:cNvSpPr/>
          <p:nvPr/>
        </p:nvSpPr>
        <p:spPr>
          <a:xfrm>
            <a:off x="8979407" y="3794760"/>
            <a:ext cx="237745" cy="137160"/>
          </a:xfrm>
          <a:custGeom>
            <a:avLst/>
            <a:gdLst/>
            <a:ahLst/>
            <a:cxnLst/>
            <a:rect l="l" t="t" r="r" b="b"/>
            <a:pathLst>
              <a:path w="237745" h="137160">
                <a:moveTo>
                  <a:pt x="0" y="0"/>
                </a:moveTo>
                <a:lnTo>
                  <a:pt x="237745" y="0"/>
                </a:lnTo>
                <a:lnTo>
                  <a:pt x="237745" y="137160"/>
                </a:lnTo>
                <a:lnTo>
                  <a:pt x="0" y="13716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Freeform 73"/>
          <p:cNvSpPr/>
          <p:nvPr/>
        </p:nvSpPr>
        <p:spPr>
          <a:xfrm>
            <a:off x="9057132" y="3749040"/>
            <a:ext cx="82296" cy="45720"/>
          </a:xfrm>
          <a:custGeom>
            <a:avLst/>
            <a:gdLst/>
            <a:ahLst/>
            <a:cxnLst/>
            <a:rect l="l" t="t" r="r" b="b"/>
            <a:pathLst>
              <a:path w="82296" h="45720">
                <a:moveTo>
                  <a:pt x="0" y="45720"/>
                </a:moveTo>
                <a:lnTo>
                  <a:pt x="0" y="0"/>
                </a:lnTo>
                <a:lnTo>
                  <a:pt x="82296" y="0"/>
                </a:lnTo>
                <a:lnTo>
                  <a:pt x="82296" y="45720"/>
                </a:lnTo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5" name="Connector 74"/>
          <p:cNvCxnSpPr/>
          <p:nvPr/>
        </p:nvCxnSpPr>
        <p:spPr>
          <a:xfrm>
            <a:off x="8979407" y="3849624"/>
            <a:ext cx="237745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76" name="TextBox 75"/>
          <p:cNvSpPr txBox="1"/>
          <p:nvPr/>
        </p:nvSpPr>
        <p:spPr>
          <a:xfrm>
            <a:off x="8823959" y="2167128"/>
            <a:ext cx="2651760" cy="1289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BCG 인턴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데이터마트 제작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불량 확률 예측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SHAP 분석 (CTP-CTQ matrix)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LLM 에이전트 및 인터페이스 개발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2026.06 ~ 2026.09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9418319" y="3840480"/>
            <a:ext cx="658369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78" name="Oval 77"/>
          <p:cNvSpPr/>
          <p:nvPr/>
        </p:nvSpPr>
        <p:spPr>
          <a:xfrm>
            <a:off x="10076688" y="363016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Freeform 78"/>
          <p:cNvSpPr/>
          <p:nvPr/>
        </p:nvSpPr>
        <p:spPr>
          <a:xfrm>
            <a:off x="10177272" y="3767328"/>
            <a:ext cx="219456" cy="146304"/>
          </a:xfrm>
          <a:custGeom>
            <a:avLst/>
            <a:gdLst/>
            <a:ahLst/>
            <a:cxnLst/>
            <a:rect l="l" t="t" r="r" b="b"/>
            <a:pathLst>
              <a:path w="219456" h="146304">
                <a:moveTo>
                  <a:pt x="0" y="0"/>
                </a:moveTo>
                <a:lnTo>
                  <a:pt x="219456" y="0"/>
                </a:lnTo>
                <a:lnTo>
                  <a:pt x="219456" y="146304"/>
                </a:lnTo>
                <a:lnTo>
                  <a:pt x="0" y="146304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0" name="Connector 79"/>
          <p:cNvCxnSpPr/>
          <p:nvPr/>
        </p:nvCxnSpPr>
        <p:spPr>
          <a:xfrm>
            <a:off x="10177272" y="3808476"/>
            <a:ext cx="219456" cy="0"/>
          </a:xfrm>
          <a:prstGeom prst="line">
            <a:avLst/>
          </a:prstGeom>
          <a:ln w="25400">
            <a:solidFill>
              <a:srgbClr val="000000"/>
            </a:solidFill>
          </a:ln>
        </p:spPr>
      </p:cxnSp>
      <p:cxnSp>
        <p:nvCxnSpPr>
          <p:cNvPr id="81" name="Connector 80"/>
          <p:cNvCxnSpPr/>
          <p:nvPr/>
        </p:nvCxnSpPr>
        <p:spPr>
          <a:xfrm>
            <a:off x="10213848" y="3877056"/>
            <a:ext cx="54864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82" name="TextBox 81"/>
          <p:cNvSpPr txBox="1"/>
          <p:nvPr/>
        </p:nvSpPr>
        <p:spPr>
          <a:xfrm>
            <a:off x="10012680" y="4169664"/>
            <a:ext cx="163037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현대카드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02 New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9441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대출 부실 예측모형 자동 점검 시스템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76565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4864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38528"/>
            <a:ext cx="548640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시간 경과에 따른 부실 예측모형 정확도 저하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실제 부실률 상승, 모형 예측치 하락 (부실률: 대출 실행 후 2년 내 미상환 비율)</a:t>
            </a:r>
          </a:p>
        </p:txBody>
      </p:sp>
      <p:pic>
        <p:nvPicPr>
          <p:cNvPr id="7" name="Picture 6" descr="chart_defa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19" y="2697480"/>
            <a:ext cx="5486400" cy="26547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37959" y="1691640"/>
            <a:ext cx="510509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작동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59" y="1965960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분기별 예측 부실률·실제 부실률 비교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59" y="2295144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오차 확대 시 수정안 11종 검증 (1년 전 자료로 수립, 이후 실적으로 평가)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59" y="2624328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기준 충족안만 담당자 보고, 적용 여부는 담당자 결정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37959" y="3031045"/>
            <a:ext cx="5105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59" y="3154680"/>
            <a:ext cx="510509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성과  2015~2018년 13개 분기 재현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3456432"/>
            <a:ext cx="237744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6개월 단축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19" y="3474720"/>
            <a:ext cx="2681935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이상 감지 시점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대출 1년 실적 병행 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4206240"/>
            <a:ext cx="237744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13%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19" y="4224527"/>
            <a:ext cx="2681935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예측 오차 (권고안 적용 후)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적용 전 33%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2018년 1분기 보유 대출 46만 건 기준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59" y="4956048"/>
            <a:ext cx="237744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4회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19" y="4974336"/>
            <a:ext cx="2681935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모형 교체 횟수 (3년)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분기별 재학습 방식 13회 대비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평균 오차 19.4% 대비 17.3%</a:t>
            </a:r>
          </a:p>
        </p:txBody>
      </p:sp>
      <p:pic>
        <p:nvPicPr>
          <p:cNvPr id="20" name="Picture 19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0"/>
            <a:ext cx="868680" cy="8686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54479" y="5650992"/>
            <a:ext cx="411480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결과 화면</a:t>
            </a:r>
          </a:p>
          <a:p>
            <a:pPr algn="l">
              <a:lnSpc>
                <a:spcPct val="130000"/>
              </a:lnSpc>
            </a:pPr>
            <a:r>
              <a:rPr sz="9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kjhoeakjy.github.io/csm-auto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6400800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자료: Lending Club 공개 대출 226만 건. 시점별 판단에 해당 시점까지의 정보만 사용. 실제 금융회사 운영 사례 아님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309</Words>
  <Application>Microsoft Office PowerPoint</Application>
  <PresentationFormat>와이드스크린</PresentationFormat>
  <Paragraphs>60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8" baseType="lpstr">
      <vt:lpstr>Pretendard</vt:lpstr>
      <vt:lpstr>Pretendard Medium</vt:lpstr>
      <vt:lpstr>Arial</vt:lpstr>
      <vt:lpstr>Pretendard SemiBold</vt:lpstr>
      <vt:lpstr>Calibri</vt:lpstr>
      <vt:lpstr>Office Theme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리스크 역량PT</dc:title>
  <dc:subject/>
  <dc:creator>김연주</dc:creator>
  <cp:keywords/>
  <dc:description>generated using python-pptx</dc:description>
  <cp:lastModifiedBy>연주 김</cp:lastModifiedBy>
  <cp:revision>2</cp:revision>
  <dcterms:created xsi:type="dcterms:W3CDTF">2013-01-27T09:14:16Z</dcterms:created>
  <dcterms:modified xsi:type="dcterms:W3CDTF">2026-10-22T07:06:22Z</dcterms:modified>
  <cp:category/>
</cp:coreProperties>
</file>