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4"/>
  </p:notesMasterIdLst>
  <p:sldIdLst>
    <p:sldId id="256" r:id="rId2"/>
    <p:sldId id="257" r:id="rId3"/>
  </p:sldIdLst>
  <p:sldSz cx="12192000" cy="6858000"/>
  <p:notesSz cx="6858000" cy="9144000"/>
  <p:embeddedFontLst>
    <p:embeddedFont>
      <p:font typeface="Pretendard" panose="02000003000000020004" pitchFamily="2" charset="-127"/>
      <p:regular r:id="rId5"/>
      <p:bold r:id="rId6"/>
    </p:embeddedFont>
    <p:embeddedFont>
      <p:font typeface="Pretendard Medium" panose="02000003000000020004" pitchFamily="2" charset="-127"/>
      <p:regular r:id="rId7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font" Target="fonts/font3.fntdata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font" Target="fonts/font2.fntdata"/><Relationship Id="rId11" Type="http://schemas.openxmlformats.org/officeDocument/2006/relationships/tableStyles" Target="tableStyles.xml"/><Relationship Id="rId5" Type="http://schemas.openxmlformats.org/officeDocument/2006/relationships/font" Target="fonts/font1.fntdata"/><Relationship Id="rId10" Type="http://schemas.openxmlformats.org/officeDocument/2006/relationships/theme" Target="theme/theme1.xml"/><Relationship Id="rId4" Type="http://schemas.openxmlformats.org/officeDocument/2006/relationships/notesMaster" Target="notesMasters/notesMaster1.xml"/><Relationship Id="rId9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847212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리스크 직무 지원자 김연주.</a:t>
            </a:r>
          </a:p>
          <a:p>
            <a:endParaRPr/>
          </a:p>
          <a:p>
            <a:r>
              <a:t>[상단 띠] 경험은 통계적 분석·검증, AI 모델·시스템 개발, 산업 현장 적용의 세 단계로 이어짐.</a:t>
            </a:r>
          </a:p>
          <a:p>
            <a:endParaRPr/>
          </a:p>
          <a:p>
            <a:r>
              <a:t>[위 트랙] 통계학 전공으로 추론과 모델링을 익히고, 학회장으로 프로젝트와 조직 운영을 이끎. 석사 과정에서 딥러닝 모델 설계와 실험을 수행 중.</a:t>
            </a:r>
          </a:p>
          <a:p>
            <a:endParaRPr/>
          </a:p>
          <a:p>
            <a:r>
              <a:t>[아래 트랙] 생존분석 연구보조로 사건 시점을 정의하고 결과를 통계적으로 검증하는 방법을 익힘. 멀티에이전트 시스템 세 건과 3D CT 멀티모달 모델로 AI 시스템 구현 경험을 쌓음.</a:t>
            </a:r>
          </a:p>
          <a:p>
            <a:endParaRPr/>
          </a:p>
          <a:p>
            <a:r>
              <a:t>[합류] 두 트랙은 BCG X 인턴에서 합류. 데이터마트 구축부터 예측 모델, 분석 화면, LLM 활용까지 실제 사용자가 쓰는 단계를 경험함.</a:t>
            </a:r>
          </a:p>
          <a:p>
            <a:endParaRPr/>
          </a:p>
          <a:p>
            <a:r>
              <a:t>[종점] 통계적 검증, AI 시스템 구현, 산업 현장 적용을 하나로 묶어 금융 모형 운영 자동화 프로젝트를 수행함.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[제목] 신용평가모형의 점검부터 개선안 검증, 보고까지의 자동화.</a:t>
            </a:r>
          </a:p>
          <a:p>
            <a:endParaRPr/>
          </a:p>
          <a:p>
            <a:r>
              <a:t>[문제] 대상은 신규 대출의 24개월 내 상각 위험을 예측하는 모형 1개. 개발 당시 잘 맞던 모형도 시간이 지나면 실제 상각률과 어긋남. 매 분기 유지, 재보정, 재학습 중 하나를 판단해야 함.</a:t>
            </a:r>
          </a:p>
          <a:p>
            <a:endParaRPr/>
          </a:p>
          <a:p>
            <a:r>
              <a:t>[흐름] 매 분기 그 시점에 알 수 있던 데이터만으로 신규 대출 특성, 12개월 중간 신호, 결과가 확정된 대출의 실제 상각률을 점검. 문제 확인 시 유지·재보정·재학습 후보를 1년 전 데이터로 만들고 이후 결과로 검증한 뒤, 기준을 통과한 안만 권고. 모형 변경은 담당자 승인.</a:t>
            </a:r>
          </a:p>
          <a:p>
            <a:endParaRPr/>
          </a:p>
          <a:p>
            <a:r>
              <a:t>[화면] 2018년 1분기 실제 생성 화면. 상태는 조치 검토, 권고는 재학습 검토. 근거 세 가지: 신규 대출의 점수 분포는 안정적, 결과가 확정된 대출의 실제 상각률은 예측의 1.27배, 재학습 후보는 별도 검증에서 오차 감소.</a:t>
            </a:r>
          </a:p>
          <a:p>
            <a:endParaRPr/>
          </a:p>
          <a:p>
            <a:r>
              <a:t>[숫자] 첫째, 12개월 중간 신호로 24개월 결과보다 2분기 먼저 이상 포착. 둘째, 이 분기 권고를 당시 보유 대출 46만 건에 적용 시 예측 오차 33%에서 14%로 감소. 셋째, 매 분기 재학습 방식과 비교해 예측 오차는 비슷하고 모형 변경은 13회에서 2회로 감소.</a:t>
            </a:r>
          </a:p>
          <a:p>
            <a:endParaRPr/>
          </a:p>
          <a:p>
            <a:r>
              <a:t>[역할] 정답과 관측 시점 검증, 예측·개선 모형 개발, 점검부터 후보 검증과 보고서 수치 대조까지의 무인 실행 흐름 구축을 단독 수행. 목표는 바꿀 이유가 없을 때 바꾸지 않는 판단까지의 자동화.</a:t>
            </a:r>
          </a:p>
          <a:p>
            <a:endParaRPr/>
          </a:p>
          <a:p>
            <a:r>
              <a:t>[마무리] 공개 데이터로 과거 분기를 재현한 프로토타입이며, 상각 시점 근사의 한계는 별도 검증. 리스크 직무에서 모형을 믿을 수 있게 운영하는 일에 이 경험을 활용하고자 함.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01 경험과 노력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통계적 검증에서 AI 시스템 구현, 산업 현장 적용으로</a:t>
            </a:r>
          </a:p>
        </p:txBody>
      </p:sp>
      <p:sp>
        <p:nvSpPr>
          <p:cNvPr id="4" name="Rectangle 3"/>
          <p:cNvSpPr/>
          <p:nvPr/>
        </p:nvSpPr>
        <p:spPr>
          <a:xfrm>
            <a:off x="548640" y="1257109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548640" y="1417320"/>
            <a:ext cx="2679191" cy="65836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713232" y="1527048"/>
            <a:ext cx="242316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통계적 분석·검증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 · 사건 시점 분석</a:t>
            </a:r>
          </a:p>
        </p:txBody>
      </p:sp>
      <p:sp>
        <p:nvSpPr>
          <p:cNvPr id="7" name="Rectangle 6"/>
          <p:cNvSpPr/>
          <p:nvPr/>
        </p:nvSpPr>
        <p:spPr>
          <a:xfrm>
            <a:off x="3264408" y="1417320"/>
            <a:ext cx="3255264" cy="65836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10712" y="1527048"/>
            <a:ext cx="3017520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AI 모델·시스템 개발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모델 설계·실험 · 에이전트 · 조직 운영</a:t>
            </a:r>
          </a:p>
        </p:txBody>
      </p:sp>
      <p:sp>
        <p:nvSpPr>
          <p:cNvPr id="9" name="Rectangle 8"/>
          <p:cNvSpPr/>
          <p:nvPr/>
        </p:nvSpPr>
        <p:spPr>
          <a:xfrm>
            <a:off x="6556248" y="1417320"/>
            <a:ext cx="2066543" cy="658368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702552" y="1527048"/>
            <a:ext cx="1828799" cy="4572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산업 현장 적용</a:t>
            </a:r>
          </a:p>
          <a:p>
            <a:pPr algn="l">
              <a:lnSpc>
                <a:spcPct val="130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 구축부터 실제 활용까지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907792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학업·활동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48640" y="3145155"/>
            <a:ext cx="635508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3" name="Connector 12"/>
          <p:cNvCxnSpPr/>
          <p:nvPr/>
        </p:nvCxnSpPr>
        <p:spPr>
          <a:xfrm>
            <a:off x="6903720" y="3154680"/>
            <a:ext cx="411480" cy="76809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4" name="Oval 13"/>
          <p:cNvSpPr/>
          <p:nvPr/>
        </p:nvSpPr>
        <p:spPr>
          <a:xfrm>
            <a:off x="1115568" y="29443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15" name="Connector 14"/>
          <p:cNvCxnSpPr/>
          <p:nvPr/>
        </p:nvCxnSpPr>
        <p:spPr>
          <a:xfrm flipV="1">
            <a:off x="1257300" y="3182112"/>
            <a:ext cx="0" cy="64008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1325880" y="3108960"/>
            <a:ext cx="0" cy="13716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1394460" y="3063240"/>
            <a:ext cx="0" cy="18288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18" name="TextBox 17"/>
          <p:cNvSpPr txBox="1"/>
          <p:nvPr/>
        </p:nvSpPr>
        <p:spPr>
          <a:xfrm>
            <a:off x="1115568" y="2221992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학사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통계적 추론·모델링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2021.03 ~ 2025.08</a:t>
            </a:r>
          </a:p>
        </p:txBody>
      </p:sp>
      <p:sp>
        <p:nvSpPr>
          <p:cNvPr id="19" name="Oval 18"/>
          <p:cNvSpPr/>
          <p:nvPr/>
        </p:nvSpPr>
        <p:spPr>
          <a:xfrm>
            <a:off x="3310128" y="29443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0" name="Connector 19"/>
          <p:cNvCxnSpPr/>
          <p:nvPr/>
        </p:nvCxnSpPr>
        <p:spPr>
          <a:xfrm flipV="1">
            <a:off x="3447288" y="3044952"/>
            <a:ext cx="0" cy="21945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21" name="Freeform 20"/>
          <p:cNvSpPr/>
          <p:nvPr/>
        </p:nvSpPr>
        <p:spPr>
          <a:xfrm>
            <a:off x="3447288" y="3054096"/>
            <a:ext cx="164592" cy="100584"/>
          </a:xfrm>
          <a:custGeom>
            <a:avLst/>
            <a:gdLst/>
            <a:ahLst/>
            <a:cxnLst/>
            <a:rect l="l" t="t" r="r" b="b"/>
            <a:pathLst>
              <a:path w="164592" h="100584">
                <a:moveTo>
                  <a:pt x="0" y="0"/>
                </a:moveTo>
                <a:lnTo>
                  <a:pt x="164592" y="50292"/>
                </a:lnTo>
                <a:lnTo>
                  <a:pt x="0" y="10058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3310128" y="2221992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데이터사이언스·AI 학회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학회장 · 프로젝트 리딩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2025.01 ~ 2026.06</a:t>
            </a:r>
          </a:p>
        </p:txBody>
      </p:sp>
      <p:sp>
        <p:nvSpPr>
          <p:cNvPr id="23" name="Oval 22"/>
          <p:cNvSpPr/>
          <p:nvPr/>
        </p:nvSpPr>
        <p:spPr>
          <a:xfrm>
            <a:off x="5276088" y="29443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24" name="Connector 23"/>
          <p:cNvCxnSpPr/>
          <p:nvPr/>
        </p:nvCxnSpPr>
        <p:spPr>
          <a:xfrm flipV="1">
            <a:off x="5399532" y="3063240"/>
            <a:ext cx="86868" cy="36576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5" name="Connector 24"/>
          <p:cNvCxnSpPr/>
          <p:nvPr/>
        </p:nvCxnSpPr>
        <p:spPr>
          <a:xfrm>
            <a:off x="5399532" y="3099816"/>
            <a:ext cx="86868" cy="5486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6" name="Connector 25"/>
          <p:cNvCxnSpPr/>
          <p:nvPr/>
        </p:nvCxnSpPr>
        <p:spPr>
          <a:xfrm>
            <a:off x="5399532" y="3099816"/>
            <a:ext cx="86868" cy="14630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5399532" y="3063240"/>
            <a:ext cx="86868" cy="14630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5399532" y="3154680"/>
            <a:ext cx="86868" cy="54864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29" name="Connector 28"/>
          <p:cNvCxnSpPr/>
          <p:nvPr/>
        </p:nvCxnSpPr>
        <p:spPr>
          <a:xfrm>
            <a:off x="5399532" y="3209544"/>
            <a:ext cx="86868" cy="36576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0" name="Connector 29"/>
          <p:cNvCxnSpPr/>
          <p:nvPr/>
        </p:nvCxnSpPr>
        <p:spPr>
          <a:xfrm>
            <a:off x="5486400" y="3063240"/>
            <a:ext cx="86868" cy="9144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1" name="Connector 30"/>
          <p:cNvCxnSpPr/>
          <p:nvPr/>
        </p:nvCxnSpPr>
        <p:spPr>
          <a:xfrm>
            <a:off x="5486400" y="3154680"/>
            <a:ext cx="86868" cy="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5486400" y="3154680"/>
            <a:ext cx="86868" cy="91440"/>
          </a:xfrm>
          <a:prstGeom prst="line">
            <a:avLst/>
          </a:prstGeom>
          <a:ln w="9525">
            <a:solidFill>
              <a:srgbClr val="000000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5378958" y="3079242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Oval 33"/>
          <p:cNvSpPr/>
          <p:nvPr/>
        </p:nvSpPr>
        <p:spPr>
          <a:xfrm>
            <a:off x="5378958" y="3188970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5" name="Oval 34"/>
          <p:cNvSpPr/>
          <p:nvPr/>
        </p:nvSpPr>
        <p:spPr>
          <a:xfrm>
            <a:off x="5465826" y="304266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6" name="Oval 35"/>
          <p:cNvSpPr/>
          <p:nvPr/>
        </p:nvSpPr>
        <p:spPr>
          <a:xfrm>
            <a:off x="5465826" y="313410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Oval 36"/>
          <p:cNvSpPr/>
          <p:nvPr/>
        </p:nvSpPr>
        <p:spPr>
          <a:xfrm>
            <a:off x="5465826" y="322554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Oval 37"/>
          <p:cNvSpPr/>
          <p:nvPr/>
        </p:nvSpPr>
        <p:spPr>
          <a:xfrm>
            <a:off x="5552694" y="3134106"/>
            <a:ext cx="41148" cy="41148"/>
          </a:xfrm>
          <a:prstGeom prst="ellipse">
            <a:avLst/>
          </a:prstGeom>
          <a:solidFill>
            <a:srgbClr val="FFFFFF"/>
          </a:solidFill>
          <a:ln w="15875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276088" y="2221992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통계학 석사 · 딥러닝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모델 설계·실험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48640" y="5074920"/>
            <a:ext cx="9144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프로젝트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48640" y="4973955"/>
            <a:ext cx="6355080" cy="19050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2" name="Connector 41"/>
          <p:cNvCxnSpPr/>
          <p:nvPr/>
        </p:nvCxnSpPr>
        <p:spPr>
          <a:xfrm flipV="1">
            <a:off x="6903720" y="4215384"/>
            <a:ext cx="411480" cy="768096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43" name="Oval 42"/>
          <p:cNvSpPr/>
          <p:nvPr/>
        </p:nvSpPr>
        <p:spPr>
          <a:xfrm>
            <a:off x="1984248" y="4773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Freeform 43"/>
          <p:cNvSpPr/>
          <p:nvPr/>
        </p:nvSpPr>
        <p:spPr>
          <a:xfrm>
            <a:off x="2093976" y="4873752"/>
            <a:ext cx="210312" cy="210312"/>
          </a:xfrm>
          <a:custGeom>
            <a:avLst/>
            <a:gdLst/>
            <a:ahLst/>
            <a:cxnLst/>
            <a:rect l="l" t="t" r="r" b="b"/>
            <a:pathLst>
              <a:path w="210312" h="210312">
                <a:moveTo>
                  <a:pt x="0" y="0"/>
                </a:moveTo>
                <a:lnTo>
                  <a:pt x="0" y="210312"/>
                </a:lnTo>
                <a:lnTo>
                  <a:pt x="210312" y="210312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Freeform 44"/>
          <p:cNvSpPr/>
          <p:nvPr/>
        </p:nvSpPr>
        <p:spPr>
          <a:xfrm>
            <a:off x="2093976" y="4901184"/>
            <a:ext cx="192024" cy="109728"/>
          </a:xfrm>
          <a:custGeom>
            <a:avLst/>
            <a:gdLst/>
            <a:ahLst/>
            <a:cxnLst/>
            <a:rect l="l" t="t" r="r" b="b"/>
            <a:pathLst>
              <a:path w="192024" h="109728">
                <a:moveTo>
                  <a:pt x="0" y="0"/>
                </a:moveTo>
                <a:lnTo>
                  <a:pt x="54864" y="0"/>
                </a:lnTo>
                <a:lnTo>
                  <a:pt x="54864" y="54864"/>
                </a:lnTo>
                <a:lnTo>
                  <a:pt x="109727" y="54864"/>
                </a:lnTo>
                <a:lnTo>
                  <a:pt x="109727" y="109728"/>
                </a:lnTo>
                <a:lnTo>
                  <a:pt x="192024" y="109728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1984248" y="5294376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생존분석 연구보조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사건 시점 분석·통계적 검증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2025.06 ~ 2026.08</a:t>
            </a:r>
          </a:p>
        </p:txBody>
      </p:sp>
      <p:sp>
        <p:nvSpPr>
          <p:cNvPr id="47" name="Oval 46"/>
          <p:cNvSpPr/>
          <p:nvPr/>
        </p:nvSpPr>
        <p:spPr>
          <a:xfrm>
            <a:off x="3904487" y="4773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48" name="Connector 47"/>
          <p:cNvCxnSpPr/>
          <p:nvPr/>
        </p:nvCxnSpPr>
        <p:spPr>
          <a:xfrm>
            <a:off x="4037076" y="5047488"/>
            <a:ext cx="155448" cy="0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49" name="Connector 48"/>
          <p:cNvCxnSpPr/>
          <p:nvPr/>
        </p:nvCxnSpPr>
        <p:spPr>
          <a:xfrm flipH="1" flipV="1">
            <a:off x="4114800" y="4905756"/>
            <a:ext cx="77724" cy="1417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cxnSp>
        <p:nvCxnSpPr>
          <p:cNvPr id="50" name="Connector 49"/>
          <p:cNvCxnSpPr/>
          <p:nvPr/>
        </p:nvCxnSpPr>
        <p:spPr>
          <a:xfrm flipH="1">
            <a:off x="4037076" y="4905756"/>
            <a:ext cx="77724" cy="141732"/>
          </a:xfrm>
          <a:prstGeom prst="line">
            <a:avLst/>
          </a:prstGeom>
          <a:ln w="12700">
            <a:solidFill>
              <a:srgbClr val="000000"/>
            </a:solidFill>
          </a:ln>
        </p:spPr>
      </p:cxnSp>
      <p:sp>
        <p:nvSpPr>
          <p:cNvPr id="51" name="Oval 50"/>
          <p:cNvSpPr/>
          <p:nvPr/>
        </p:nvSpPr>
        <p:spPr>
          <a:xfrm>
            <a:off x="4007358" y="5017770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2" name="Oval 51"/>
          <p:cNvSpPr/>
          <p:nvPr/>
        </p:nvSpPr>
        <p:spPr>
          <a:xfrm>
            <a:off x="4162806" y="5017770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Oval 52"/>
          <p:cNvSpPr/>
          <p:nvPr/>
        </p:nvSpPr>
        <p:spPr>
          <a:xfrm>
            <a:off x="4085082" y="4876038"/>
            <a:ext cx="59436" cy="59436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4" name="TextBox 53"/>
          <p:cNvSpPr txBox="1"/>
          <p:nvPr/>
        </p:nvSpPr>
        <p:spPr>
          <a:xfrm>
            <a:off x="3904487" y="5294376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멀티에이전트 시스템 3건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데이터·AI 시스템 통합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2025.07 ~ 2026.06</a:t>
            </a:r>
          </a:p>
        </p:txBody>
      </p:sp>
      <p:sp>
        <p:nvSpPr>
          <p:cNvPr id="55" name="Oval 54"/>
          <p:cNvSpPr/>
          <p:nvPr/>
        </p:nvSpPr>
        <p:spPr>
          <a:xfrm>
            <a:off x="5687568" y="4773168"/>
            <a:ext cx="420624" cy="420624"/>
          </a:xfrm>
          <a:prstGeom prst="ellipse">
            <a:avLst/>
          </a:prstGeom>
          <a:solidFill>
            <a:srgbClr val="FFFFFF"/>
          </a:solidFill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6" name="Freeform 55"/>
          <p:cNvSpPr/>
          <p:nvPr/>
        </p:nvSpPr>
        <p:spPr>
          <a:xfrm>
            <a:off x="5797296" y="4887468"/>
            <a:ext cx="201168" cy="100584"/>
          </a:xfrm>
          <a:custGeom>
            <a:avLst/>
            <a:gdLst/>
            <a:ahLst/>
            <a:cxnLst/>
            <a:rect l="l" t="t" r="r" b="b"/>
            <a:pathLst>
              <a:path w="201168" h="100584">
                <a:moveTo>
                  <a:pt x="0" y="50292"/>
                </a:moveTo>
                <a:lnTo>
                  <a:pt x="100584" y="0"/>
                </a:lnTo>
                <a:lnTo>
                  <a:pt x="201168" y="50292"/>
                </a:lnTo>
                <a:lnTo>
                  <a:pt x="100584" y="100584"/>
                </a:lnTo>
                <a:close/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7" name="Freeform 56"/>
          <p:cNvSpPr/>
          <p:nvPr/>
        </p:nvSpPr>
        <p:spPr>
          <a:xfrm>
            <a:off x="5797296" y="4978907"/>
            <a:ext cx="201168" cy="50293"/>
          </a:xfrm>
          <a:custGeom>
            <a:avLst/>
            <a:gdLst/>
            <a:ahLst/>
            <a:cxnLst/>
            <a:rect l="l" t="t" r="r" b="b"/>
            <a:pathLst>
              <a:path w="201168" h="50293">
                <a:moveTo>
                  <a:pt x="0" y="0"/>
                </a:moveTo>
                <a:lnTo>
                  <a:pt x="100584" y="50293"/>
                </a:lnTo>
                <a:lnTo>
                  <a:pt x="201168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8" name="Freeform 57"/>
          <p:cNvSpPr/>
          <p:nvPr/>
        </p:nvSpPr>
        <p:spPr>
          <a:xfrm>
            <a:off x="5797296" y="5038344"/>
            <a:ext cx="201168" cy="50292"/>
          </a:xfrm>
          <a:custGeom>
            <a:avLst/>
            <a:gdLst/>
            <a:ahLst/>
            <a:cxnLst/>
            <a:rect l="l" t="t" r="r" b="b"/>
            <a:pathLst>
              <a:path w="201168" h="50292">
                <a:moveTo>
                  <a:pt x="0" y="0"/>
                </a:moveTo>
                <a:lnTo>
                  <a:pt x="100584" y="50292"/>
                </a:lnTo>
                <a:lnTo>
                  <a:pt x="201168" y="0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9" name="TextBox 58"/>
          <p:cNvSpPr txBox="1"/>
          <p:nvPr/>
        </p:nvSpPr>
        <p:spPr>
          <a:xfrm>
            <a:off x="5687568" y="5294376"/>
            <a:ext cx="2103120" cy="685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1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3D CT 멀티모달 모델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모델 설계·실험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2025.09 ~ 2026.02</a:t>
            </a:r>
          </a:p>
        </p:txBody>
      </p:sp>
      <p:sp>
        <p:nvSpPr>
          <p:cNvPr id="60" name="Oval 59"/>
          <p:cNvSpPr/>
          <p:nvPr/>
        </p:nvSpPr>
        <p:spPr>
          <a:xfrm>
            <a:off x="7232904" y="3712464"/>
            <a:ext cx="713232" cy="713232"/>
          </a:xfrm>
          <a:prstGeom prst="ellipse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1" name="Freeform 60"/>
          <p:cNvSpPr/>
          <p:nvPr/>
        </p:nvSpPr>
        <p:spPr>
          <a:xfrm>
            <a:off x="7507224" y="3968496"/>
            <a:ext cx="164592" cy="210312"/>
          </a:xfrm>
          <a:custGeom>
            <a:avLst/>
            <a:gdLst/>
            <a:ahLst/>
            <a:cxnLst/>
            <a:rect l="l" t="t" r="r" b="b"/>
            <a:pathLst>
              <a:path w="164592" h="210312">
                <a:moveTo>
                  <a:pt x="0" y="210312"/>
                </a:moveTo>
                <a:lnTo>
                  <a:pt x="0" y="0"/>
                </a:lnTo>
                <a:lnTo>
                  <a:pt x="164592" y="0"/>
                </a:lnTo>
                <a:lnTo>
                  <a:pt x="164592" y="210312"/>
                </a:lnTo>
                <a:close/>
              </a:path>
            </a:pathLst>
          </a:custGeom>
          <a:noFill/>
          <a:ln w="1905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cxnSp>
        <p:nvCxnSpPr>
          <p:cNvPr id="62" name="Connector 61"/>
          <p:cNvCxnSpPr/>
          <p:nvPr/>
        </p:nvCxnSpPr>
        <p:spPr>
          <a:xfrm>
            <a:off x="7548372" y="4023360"/>
            <a:ext cx="82296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63" name="Connector 62"/>
          <p:cNvCxnSpPr/>
          <p:nvPr/>
        </p:nvCxnSpPr>
        <p:spPr>
          <a:xfrm>
            <a:off x="7548372" y="4078224"/>
            <a:ext cx="82296" cy="0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cxnSp>
        <p:nvCxnSpPr>
          <p:cNvPr id="64" name="Connector 63"/>
          <p:cNvCxnSpPr/>
          <p:nvPr/>
        </p:nvCxnSpPr>
        <p:spPr>
          <a:xfrm>
            <a:off x="7589520" y="4123944"/>
            <a:ext cx="0" cy="54864"/>
          </a:xfrm>
          <a:prstGeom prst="line">
            <a:avLst/>
          </a:prstGeom>
          <a:ln w="12700">
            <a:solidFill>
              <a:srgbClr val="FFFFFF"/>
            </a:solidFill>
          </a:ln>
        </p:spPr>
      </p:cxnSp>
      <p:sp>
        <p:nvSpPr>
          <p:cNvPr id="65" name="TextBox 64"/>
          <p:cNvSpPr txBox="1"/>
          <p:nvPr/>
        </p:nvSpPr>
        <p:spPr>
          <a:xfrm>
            <a:off x="7315200" y="4526280"/>
            <a:ext cx="2194560" cy="8229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BCG X 인턴</a:t>
            </a:r>
          </a:p>
          <a:p>
            <a:pPr algn="l">
              <a:lnSpc>
                <a:spcPct val="130000"/>
              </a:lnSpc>
            </a:pPr>
            <a:r>
              <a:rPr sz="95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데이터마트 · 예측 모델 · 분석 화면 · LLM</a:t>
            </a:r>
          </a:p>
          <a:p>
            <a:pPr algn="l">
              <a:lnSpc>
                <a:spcPct val="130000"/>
              </a:lnSpc>
            </a:pPr>
            <a:r>
              <a:rPr sz="8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2026.06 ~ 2026.09</a:t>
            </a:r>
          </a:p>
        </p:txBody>
      </p:sp>
      <p:cxnSp>
        <p:nvCxnSpPr>
          <p:cNvPr id="66" name="Connector 65"/>
          <p:cNvCxnSpPr/>
          <p:nvPr/>
        </p:nvCxnSpPr>
        <p:spPr>
          <a:xfrm>
            <a:off x="7946136" y="4069080"/>
            <a:ext cx="1152144" cy="0"/>
          </a:xfrm>
          <a:prstGeom prst="line">
            <a:avLst/>
          </a:prstGeom>
          <a:ln w="19050">
            <a:solidFill>
              <a:srgbClr val="000000"/>
            </a:solidFill>
          </a:ln>
        </p:spPr>
      </p:cxnSp>
      <p:sp>
        <p:nvSpPr>
          <p:cNvPr id="67" name="Freeform 66"/>
          <p:cNvSpPr/>
          <p:nvPr/>
        </p:nvSpPr>
        <p:spPr>
          <a:xfrm>
            <a:off x="9006840" y="3995928"/>
            <a:ext cx="109728" cy="146304"/>
          </a:xfrm>
          <a:custGeom>
            <a:avLst/>
            <a:gdLst/>
            <a:ahLst/>
            <a:cxnLst/>
            <a:rect l="l" t="t" r="r" b="b"/>
            <a:pathLst>
              <a:path w="109728" h="146304">
                <a:moveTo>
                  <a:pt x="0" y="0"/>
                </a:moveTo>
                <a:lnTo>
                  <a:pt x="109728" y="73152"/>
                </a:lnTo>
                <a:lnTo>
                  <a:pt x="0" y="146304"/>
                </a:lnTo>
              </a:path>
            </a:pathLst>
          </a:custGeom>
          <a:noFill/>
          <a:ln w="19050">
            <a:solidFill>
              <a:srgbClr val="000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8" name="TextBox 67"/>
          <p:cNvSpPr txBox="1"/>
          <p:nvPr/>
        </p:nvSpPr>
        <p:spPr>
          <a:xfrm>
            <a:off x="9235440" y="3200400"/>
            <a:ext cx="2453335" cy="18288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통계적 검증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AI 시스템 구현</a:t>
            </a:r>
          </a:p>
          <a:p>
            <a:pPr algn="l">
              <a:lnSpc>
                <a:spcPct val="135000"/>
              </a:lnSpc>
            </a:pP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산업 현장 적용</a:t>
            </a:r>
          </a:p>
          <a:p>
            <a:pPr algn="l">
              <a:lnSpc>
                <a:spcPct val="135000"/>
              </a:lnSpc>
            </a:pPr>
            <a:endParaRPr sz="1200" b="1">
              <a:solidFill>
                <a:srgbClr val="000000"/>
              </a:solidFill>
              <a:latin typeface="Pretendard"/>
              <a:ea typeface="Pretendard"/>
              <a:cs typeface="Pretendard"/>
            </a:endParaRPr>
          </a:p>
          <a:p>
            <a:pPr algn="l">
              <a:lnSpc>
                <a:spcPct val="135000"/>
              </a:lnSpc>
            </a:pPr>
            <a:r>
              <a:rPr sz="13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→ 금융 모형 운영 자동화</a:t>
            </a:r>
          </a:p>
          <a:p>
            <a:pPr algn="l">
              <a:lnSpc>
                <a:spcPct val="135000"/>
              </a:lnSpc>
            </a:pPr>
            <a:r>
              <a:rPr sz="9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2장 프로젝트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84048"/>
            <a:ext cx="3657600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02 역량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03504"/>
            <a:ext cx="11094415" cy="4114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신용평가모형의 점검부터 개선안 검증·보고까지 자동화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097280"/>
            <a:ext cx="11094415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24개월 상각 위험 예측모형 1개 · 분기별 유지·재보정·재학습 자동 판단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76565"/>
            <a:ext cx="11094415" cy="9525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548640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1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정기 실행</a:t>
            </a:r>
          </a:p>
        </p:txBody>
      </p:sp>
      <p:sp>
        <p:nvSpPr>
          <p:cNvPr id="7" name="Freeform 6"/>
          <p:cNvSpPr/>
          <p:nvPr/>
        </p:nvSpPr>
        <p:spPr>
          <a:xfrm>
            <a:off x="2828467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011347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2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점검</a:t>
            </a:r>
          </a:p>
        </p:txBody>
      </p:sp>
      <p:sp>
        <p:nvSpPr>
          <p:cNvPr id="9" name="Freeform 8"/>
          <p:cNvSpPr/>
          <p:nvPr/>
        </p:nvSpPr>
        <p:spPr>
          <a:xfrm>
            <a:off x="5236311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5419191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3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이상 시 개선안 검증</a:t>
            </a:r>
          </a:p>
        </p:txBody>
      </p:sp>
      <p:sp>
        <p:nvSpPr>
          <p:cNvPr id="11" name="Freeform 10"/>
          <p:cNvSpPr/>
          <p:nvPr/>
        </p:nvSpPr>
        <p:spPr>
          <a:xfrm>
            <a:off x="7644155" y="1645920"/>
            <a:ext cx="73152" cy="146304"/>
          </a:xfrm>
          <a:custGeom>
            <a:avLst/>
            <a:gdLst/>
            <a:ahLst/>
            <a:cxnLst/>
            <a:rect l="l" t="t" r="r" b="b"/>
            <a:pathLst>
              <a:path w="73152" h="146304">
                <a:moveTo>
                  <a:pt x="0" y="0"/>
                </a:moveTo>
                <a:lnTo>
                  <a:pt x="73152" y="73152"/>
                </a:lnTo>
                <a:lnTo>
                  <a:pt x="0" y="146304"/>
                </a:lnTo>
              </a:path>
            </a:pathLst>
          </a:custGeom>
          <a:noFill/>
          <a:ln w="12700">
            <a:solidFill>
              <a:srgbClr val="9A9A9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7827035" y="1609344"/>
            <a:ext cx="2224963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0">
                <a:solidFill>
                  <a:srgbClr val="9A9A9A"/>
                </a:solidFill>
                <a:latin typeface="Pretendard Medium"/>
                <a:ea typeface="Pretendard Medium"/>
                <a:cs typeface="Pretendard Medium"/>
              </a:rPr>
              <a:t>4  </a:t>
            </a:r>
            <a:r>
              <a:rPr sz="12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보고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271455" y="1636776"/>
            <a:ext cx="1371600" cy="2743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변경은 담당자 승인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48640" y="2006917"/>
            <a:ext cx="11094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15" name="Picture 14" descr="app_c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2212848"/>
            <a:ext cx="6400800" cy="3561265"/>
          </a:xfrm>
          <a:prstGeom prst="rect">
            <a:avLst/>
          </a:prstGeom>
          <a:ln w="9525">
            <a:solidFill>
              <a:srgbClr val="DDDDDD"/>
            </a:solidFill>
          </a:ln>
        </p:spPr>
      </p:pic>
      <p:sp>
        <p:nvSpPr>
          <p:cNvPr id="16" name="TextBox 15"/>
          <p:cNvSpPr txBox="1"/>
          <p:nvPr/>
        </p:nvSpPr>
        <p:spPr>
          <a:xfrm>
            <a:off x="548640" y="5819833"/>
            <a:ext cx="6400800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실제 생성 화면 · 2018년 1분기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221284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조기 경고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06640" y="2450591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2분기 먼저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06640" y="303580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12개월 중간 신호 기준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406640" y="342423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7406640" y="353872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예측 오차 (사후 확인)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406640" y="377647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33% → 14%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436168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2018Q1 권고 · 보유 대출 46만 건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406640" y="4750117"/>
            <a:ext cx="4236415" cy="9525"/>
          </a:xfrm>
          <a:prstGeom prst="rect">
            <a:avLst/>
          </a:prstGeom>
          <a:solidFill>
            <a:srgbClr val="DDDDD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7406640" y="4864608"/>
            <a:ext cx="4236415" cy="201168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 Medium"/>
                <a:ea typeface="Pretendard Medium"/>
                <a:cs typeface="Pretendard Medium"/>
              </a:rPr>
              <a:t>모형 변경 (13개 분기)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06640" y="5102352"/>
            <a:ext cx="4236415" cy="50292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1">
                <a:solidFill>
                  <a:srgbClr val="000000"/>
                </a:solidFill>
                <a:latin typeface="Pretendard"/>
                <a:ea typeface="Pretendard"/>
                <a:cs typeface="Pretendard"/>
              </a:rPr>
              <a:t>13회 → 2회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406640" y="5687568"/>
            <a:ext cx="4236415" cy="22860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>
                <a:solidFill>
                  <a:srgbClr val="6B6B6B"/>
                </a:solidFill>
                <a:latin typeface="Pretendard"/>
                <a:ea typeface="Pretendard"/>
                <a:cs typeface="Pretendard"/>
              </a:rPr>
              <a:t>매 분기 재학습 대비 · 예측 오차 유사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10528"/>
            <a:ext cx="11094415" cy="1828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50" b="0">
                <a:solidFill>
                  <a:srgbClr val="9A9A9A"/>
                </a:solidFill>
                <a:latin typeface="Pretendard"/>
                <a:ea typeface="Pretendard"/>
                <a:cs typeface="Pretendard"/>
              </a:rPr>
              <a:t>공개 대출 데이터 기반 과거 분기 재현·프로토타입 · 실제 금융회사 운영 아님 · 판단은 당시 데이터만 사용, 평가는 이후 확정 결과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673</Words>
  <Application>Microsoft Office PowerPoint</Application>
  <PresentationFormat>와이드스크린</PresentationFormat>
  <Paragraphs>80</Paragraphs>
  <Slides>2</Slides>
  <Notes>2</Notes>
  <HiddenSlides>0</HiddenSlides>
  <MMClips>0</MMClips>
  <ScaleCrop>false</ScaleCrop>
  <HeadingPairs>
    <vt:vector size="6" baseType="variant">
      <vt:variant>
        <vt:lpstr>사용한 글꼴</vt:lpstr>
      </vt:variant>
      <vt:variant>
        <vt:i4>4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</vt:i4>
      </vt:variant>
    </vt:vector>
  </HeadingPairs>
  <TitlesOfParts>
    <vt:vector size="7" baseType="lpstr">
      <vt:lpstr>Pretendard</vt:lpstr>
      <vt:lpstr>Pretendard Medium</vt:lpstr>
      <vt:lpstr>Arial</vt:lpstr>
      <vt:lpstr>Calibri</vt:lpstr>
      <vt:lpstr>Office Theme</vt:lpstr>
      <vt:lpstr>PowerPoint 프레젠테이션</vt:lpstr>
      <vt:lpstr>PowerPoint 프레젠테이션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리스크 역량PT</dc:title>
  <dc:subject/>
  <dc:creator>김연주</dc:creator>
  <cp:keywords/>
  <dc:description>generated using python-pptx</dc:description>
  <cp:lastModifiedBy>연주 김</cp:lastModifiedBy>
  <cp:revision>2</cp:revision>
  <dcterms:created xsi:type="dcterms:W3CDTF">2013-01-27T09:14:16Z</dcterms:created>
  <dcterms:modified xsi:type="dcterms:W3CDTF">2026-10-22T04:51:46Z</dcterms:modified>
  <cp:category/>
</cp:coreProperties>
</file>