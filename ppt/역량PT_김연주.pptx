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4"/>
      <p:bold r:id="rId5"/>
    </p:embeddedFont>
    <p:embeddedFont>
      <p:font typeface="Pretendard Medium" panose="02000003000000020004" pitchFamily="2" charset="-127"/>
      <p:regular r:id="rId6"/>
    </p:embeddedFont>
    <p:embeddedFont>
      <p:font typeface="Pretendard SemiBold" panose="02000003000000020004" pitchFamily="2" charset="-127"/>
      <p:bold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4231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5050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2514600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37947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8766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328416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6184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170992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1764792" y="2514600"/>
            <a:ext cx="128015" cy="64008"/>
          </a:xfrm>
          <a:custGeom>
            <a:avLst/>
            <a:gdLst/>
            <a:ahLst/>
            <a:cxnLst/>
            <a:rect l="l" t="t" r="r" b="b"/>
            <a:pathLst>
              <a:path w="128015" h="64008">
                <a:moveTo>
                  <a:pt x="0" y="0"/>
                </a:moveTo>
                <a:lnTo>
                  <a:pt x="0" y="64008"/>
                </a:lnTo>
                <a:lnTo>
                  <a:pt x="128015" y="64008"/>
                </a:lnTo>
                <a:lnTo>
                  <a:pt x="128015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1929384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618488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통계적 추론과 모델링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2021.03 ~ 2025.08</a:t>
            </a:r>
          </a:p>
        </p:txBody>
      </p:sp>
      <p:sp>
        <p:nvSpPr>
          <p:cNvPr id="15" name="Oval 14"/>
          <p:cNvSpPr/>
          <p:nvPr/>
        </p:nvSpPr>
        <p:spPr>
          <a:xfrm>
            <a:off x="34472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3557016" y="244144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598164" y="2482596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598164" y="251460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3447288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통계학 전공 학업 지원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2024.09 ~ 2024.12</a:t>
            </a:r>
          </a:p>
        </p:txBody>
      </p:sp>
      <p:sp>
        <p:nvSpPr>
          <p:cNvPr id="20" name="Oval 19"/>
          <p:cNvSpPr/>
          <p:nvPr/>
        </p:nvSpPr>
        <p:spPr>
          <a:xfrm>
            <a:off x="52760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404104" y="243687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5385816" y="2542032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513831" y="244144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5490972" y="2542032"/>
            <a:ext cx="100583" cy="54864"/>
          </a:xfrm>
          <a:custGeom>
            <a:avLst/>
            <a:gdLst/>
            <a:ahLst/>
            <a:cxnLst/>
            <a:rect l="l" t="t" r="r" b="b"/>
            <a:pathLst>
              <a:path w="100583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3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76088" y="1435608"/>
            <a:ext cx="2011680" cy="8778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학회장, 운영팀장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스터디 진행, 프로젝트 진행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2026.07</a:t>
            </a:r>
          </a:p>
        </p:txBody>
      </p:sp>
      <p:sp>
        <p:nvSpPr>
          <p:cNvPr id="26" name="Oval 25"/>
          <p:cNvSpPr/>
          <p:nvPr/>
        </p:nvSpPr>
        <p:spPr>
          <a:xfrm>
            <a:off x="7196327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Freeform 26"/>
          <p:cNvSpPr/>
          <p:nvPr/>
        </p:nvSpPr>
        <p:spPr>
          <a:xfrm>
            <a:off x="728776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7342631" y="2514600"/>
            <a:ext cx="128017" cy="64008"/>
          </a:xfrm>
          <a:custGeom>
            <a:avLst/>
            <a:gdLst/>
            <a:ahLst/>
            <a:cxnLst/>
            <a:rect l="l" t="t" r="r" b="b"/>
            <a:pathLst>
              <a:path w="128017" h="64008">
                <a:moveTo>
                  <a:pt x="0" y="0"/>
                </a:moveTo>
                <a:lnTo>
                  <a:pt x="0" y="64008"/>
                </a:lnTo>
                <a:lnTo>
                  <a:pt x="128017" y="64008"/>
                </a:lnTo>
                <a:lnTo>
                  <a:pt x="128017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7507223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196327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딥러닝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 2027.02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60020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226314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92608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58902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425196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491490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557784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624078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690372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756666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822960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154533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563624" y="417880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44" name="Oval 43"/>
          <p:cNvSpPr/>
          <p:nvPr/>
        </p:nvSpPr>
        <p:spPr>
          <a:xfrm>
            <a:off x="220827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226564" y="474573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46" name="Oval 45"/>
          <p:cNvSpPr/>
          <p:nvPr/>
        </p:nvSpPr>
        <p:spPr>
          <a:xfrm>
            <a:off x="287121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889504" y="531266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48" name="Oval 47"/>
          <p:cNvSpPr/>
          <p:nvPr/>
        </p:nvSpPr>
        <p:spPr>
          <a:xfrm>
            <a:off x="353415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552444" y="417880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50" name="Oval 49"/>
          <p:cNvSpPr/>
          <p:nvPr/>
        </p:nvSpPr>
        <p:spPr>
          <a:xfrm>
            <a:off x="419709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215384" y="474573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52" name="Oval 51"/>
          <p:cNvSpPr/>
          <p:nvPr/>
        </p:nvSpPr>
        <p:spPr>
          <a:xfrm>
            <a:off x="483717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878324" y="531266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54" name="Oval 53"/>
          <p:cNvSpPr/>
          <p:nvPr/>
        </p:nvSpPr>
        <p:spPr>
          <a:xfrm>
            <a:off x="552297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541264" y="417880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56" name="Oval 55"/>
          <p:cNvSpPr/>
          <p:nvPr/>
        </p:nvSpPr>
        <p:spPr>
          <a:xfrm>
            <a:off x="616305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204204" y="474573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58" name="Oval 57"/>
          <p:cNvSpPr/>
          <p:nvPr/>
        </p:nvSpPr>
        <p:spPr>
          <a:xfrm>
            <a:off x="684885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867144" y="531266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60" name="Oval 59"/>
          <p:cNvSpPr/>
          <p:nvPr/>
        </p:nvSpPr>
        <p:spPr>
          <a:xfrm>
            <a:off x="748893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530084" y="417880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62" name="Oval 61"/>
          <p:cNvSpPr/>
          <p:nvPr/>
        </p:nvSpPr>
        <p:spPr>
          <a:xfrm>
            <a:off x="8151875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193024" y="474573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64" name="Oval 63"/>
          <p:cNvSpPr/>
          <p:nvPr/>
        </p:nvSpPr>
        <p:spPr>
          <a:xfrm>
            <a:off x="8778240" y="288036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Freeform 64"/>
          <p:cNvSpPr/>
          <p:nvPr/>
        </p:nvSpPr>
        <p:spPr>
          <a:xfrm>
            <a:off x="8979407" y="315468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Freeform 65"/>
          <p:cNvSpPr/>
          <p:nvPr/>
        </p:nvSpPr>
        <p:spPr>
          <a:xfrm>
            <a:off x="9057132" y="310896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7" name="Connector 66"/>
          <p:cNvCxnSpPr/>
          <p:nvPr/>
        </p:nvCxnSpPr>
        <p:spPr>
          <a:xfrm>
            <a:off x="8979407" y="320954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8823959" y="1527048"/>
            <a:ext cx="2651760" cy="1289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데이터마트 제작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불량 확률 예측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SHAP 분석 (CTP-CTQ matrix)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•  LLM 에이전트 및 인터페이스 개발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418319" y="320040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0" name="Oval 69"/>
          <p:cNvSpPr/>
          <p:nvPr/>
        </p:nvSpPr>
        <p:spPr>
          <a:xfrm>
            <a:off x="10076688" y="29900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Freeform 70"/>
          <p:cNvSpPr/>
          <p:nvPr/>
        </p:nvSpPr>
        <p:spPr>
          <a:xfrm>
            <a:off x="10177272" y="312724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2" name="Connector 71"/>
          <p:cNvCxnSpPr/>
          <p:nvPr/>
        </p:nvCxnSpPr>
        <p:spPr>
          <a:xfrm>
            <a:off x="10177272" y="316839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73" name="Connector 72"/>
          <p:cNvCxnSpPr/>
          <p:nvPr/>
        </p:nvCxnSpPr>
        <p:spPr>
          <a:xfrm>
            <a:off x="10213848" y="323697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012680" y="352958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New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대출 부실 예측모형 자동 점검 시스템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76565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4864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38528"/>
            <a:ext cx="54864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대출 심사에 쓰는 부실 예측모형은 시간이 지나면 실제와 어긋남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부실률은 오르는데 모형의 예상은 내려감 (실행 후 2년 안에 갚지 못한 대출의 비율)</a:t>
            </a:r>
          </a:p>
        </p:txBody>
      </p:sp>
      <p:pic>
        <p:nvPicPr>
          <p:cNvPr id="7" name="Picture 6" descr="chart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19" y="2697480"/>
            <a:ext cx="5486400" cy="26547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37959" y="169164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시스템이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59" y="196596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3개월마다 모형의 예상 부실률과 실제 부실률을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59" y="2295144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차이가 크면 수정안 11개를 1년 전 자료로 만들고 그 뒤 결과로 시험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624328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 </a:t>
            </a:r>
            <a:r>
              <a:rPr sz="1100" b="0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기준을 넘은 수정안만 담당자에게 보고. 적용 여부는 담당자가 결정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59" y="3031045"/>
            <a:ext cx="51050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59" y="3154680"/>
            <a:ext cx="510509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결과  2015~2018년 13개 분기 재실행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3456432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6개월 빠름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19" y="3474720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문제 발견 시점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대출 1년 결과를 함께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206240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33%에서 13%로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4224527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예상 부실률과 실제의 차이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2018년 1분기 권고 적용, 대출 46만 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4956048"/>
            <a:ext cx="2377440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13회에서 4회로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4974336"/>
            <a:ext cx="2681935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3년간 모형 교체 횟수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3개월마다 새로 학습하는 방식 대비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평균 차이 19.4%에서 17.3%로</a:t>
            </a:r>
          </a:p>
        </p:txBody>
      </p:sp>
      <p:pic>
        <p:nvPicPr>
          <p:cNvPr id="20" name="Picture 19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0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79" y="5650992"/>
            <a:ext cx="411480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결과 화면 (직접 조작 가능)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kjhoeakjy.github.io/csm-auto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6400800"/>
            <a:ext cx="510509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Lending Club 공개 대출 226만 건 사용. 각 시점의 판단에는 그 시점까지의 정보만 사용. 실제 금융회사 운영 아님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310</Words>
  <Application>Microsoft Office PowerPoint</Application>
  <PresentationFormat>와이드스크린</PresentationFormat>
  <Paragraphs>68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</vt:lpstr>
      <vt:lpstr>Pretendard Medium</vt:lpstr>
      <vt:lpstr>Arial</vt:lpstr>
      <vt:lpstr>Pretendard SemiBold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2026-10-22T06:49:36Z</dcterms:modified>
  <cp:category/>
</cp:coreProperties>
</file>