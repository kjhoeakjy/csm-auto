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embeddedFontLst>
    <p:embeddedFont>
      <p:font typeface="Pretendard" panose="02000003000000020004" pitchFamily="2" charset="-127"/>
      <p:regular r:id="rId4"/>
      <p:bold r:id="rId5"/>
    </p:embeddedFont>
    <p:embeddedFont>
      <p:font typeface="Pretendard Medium" panose="02000003000000020004" pitchFamily="2" charset="-127"/>
      <p:regular r:id="rId6"/>
    </p:embeddedFont>
    <p:embeddedFont>
      <p:font typeface="Pretendard SemiBold" panose="02000003000000020004" pitchFamily="2" charset="-127"/>
      <p:bold r:id="rId7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font" Target="fonts/font4.fntdata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11" Type="http://schemas.openxmlformats.org/officeDocument/2006/relationships/tableStyles" Target="tableStyles.xml"/><Relationship Id="rId5" Type="http://schemas.openxmlformats.org/officeDocument/2006/relationships/font" Target="fonts/font2.fntdata"/><Relationship Id="rId10" Type="http://schemas.openxmlformats.org/officeDocument/2006/relationships/theme" Target="theme/theme1.xml"/><Relationship Id="rId4" Type="http://schemas.openxmlformats.org/officeDocument/2006/relationships/font" Target="fonts/font1.fntdata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566928"/>
            <a:ext cx="11094415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01 Experience Timeline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3957"/>
            <a:ext cx="11094415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154679"/>
            <a:ext cx="731520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학업, 경험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3236595"/>
            <a:ext cx="7178040" cy="190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" name="Connector 5"/>
          <p:cNvCxnSpPr/>
          <p:nvPr/>
        </p:nvCxnSpPr>
        <p:spPr>
          <a:xfrm>
            <a:off x="8549640" y="3246120"/>
            <a:ext cx="292608" cy="466344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7" name="TextBox 6"/>
          <p:cNvSpPr txBox="1"/>
          <p:nvPr/>
        </p:nvSpPr>
        <p:spPr>
          <a:xfrm>
            <a:off x="548640" y="4343400"/>
            <a:ext cx="731520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프로젝트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4425315"/>
            <a:ext cx="7178040" cy="190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" name="Connector 8"/>
          <p:cNvCxnSpPr/>
          <p:nvPr/>
        </p:nvCxnSpPr>
        <p:spPr>
          <a:xfrm flipV="1">
            <a:off x="8549640" y="3968496"/>
            <a:ext cx="292608" cy="466344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1600200" y="1371600"/>
            <a:ext cx="594360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통계학 학사</a:t>
            </a: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   2021.03 ~ 2025.08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600200" y="1618488"/>
            <a:ext cx="3424270" cy="82296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" name="Connector 11"/>
          <p:cNvCxnSpPr/>
          <p:nvPr/>
        </p:nvCxnSpPr>
        <p:spPr>
          <a:xfrm>
            <a:off x="1600200" y="1700784"/>
            <a:ext cx="0" cy="1335024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1389888" y="303580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Freeform 13"/>
          <p:cNvSpPr/>
          <p:nvPr/>
        </p:nvSpPr>
        <p:spPr>
          <a:xfrm>
            <a:off x="1481328" y="3163824"/>
            <a:ext cx="237744" cy="109727"/>
          </a:xfrm>
          <a:custGeom>
            <a:avLst/>
            <a:gdLst/>
            <a:ahLst/>
            <a:cxnLst/>
            <a:rect l="l" t="t" r="r" b="b"/>
            <a:pathLst>
              <a:path w="237744" h="109727">
                <a:moveTo>
                  <a:pt x="0" y="54864"/>
                </a:moveTo>
                <a:lnTo>
                  <a:pt x="118872" y="0"/>
                </a:lnTo>
                <a:lnTo>
                  <a:pt x="237744" y="54864"/>
                </a:lnTo>
                <a:lnTo>
                  <a:pt x="118872" y="109727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Freeform 14"/>
          <p:cNvSpPr/>
          <p:nvPr/>
        </p:nvSpPr>
        <p:spPr>
          <a:xfrm>
            <a:off x="1536192" y="3246120"/>
            <a:ext cx="128016" cy="64007"/>
          </a:xfrm>
          <a:custGeom>
            <a:avLst/>
            <a:gdLst/>
            <a:ahLst/>
            <a:cxnLst/>
            <a:rect l="l" t="t" r="r" b="b"/>
            <a:pathLst>
              <a:path w="128016" h="64007">
                <a:moveTo>
                  <a:pt x="0" y="0"/>
                </a:moveTo>
                <a:lnTo>
                  <a:pt x="0" y="64007"/>
                </a:lnTo>
                <a:lnTo>
                  <a:pt x="128016" y="64007"/>
                </a:lnTo>
                <a:lnTo>
                  <a:pt x="128016" y="0"/>
                </a:lnTo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6" name="Connector 15"/>
          <p:cNvCxnSpPr/>
          <p:nvPr/>
        </p:nvCxnSpPr>
        <p:spPr>
          <a:xfrm>
            <a:off x="1700784" y="3227832"/>
            <a:ext cx="0" cy="82295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17" name="TextBox 16"/>
          <p:cNvSpPr txBox="1"/>
          <p:nvPr/>
        </p:nvSpPr>
        <p:spPr>
          <a:xfrm>
            <a:off x="2926080" y="1801368"/>
            <a:ext cx="594360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외국인 학생 멘토링</a:t>
            </a: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   2024.09 ~ 2024.12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26080" y="2048256"/>
            <a:ext cx="572288" cy="82296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9" name="Connector 18"/>
          <p:cNvCxnSpPr/>
          <p:nvPr/>
        </p:nvCxnSpPr>
        <p:spPr>
          <a:xfrm>
            <a:off x="2926080" y="2130552"/>
            <a:ext cx="0" cy="905256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20" name="Oval 19"/>
          <p:cNvSpPr/>
          <p:nvPr/>
        </p:nvSpPr>
        <p:spPr>
          <a:xfrm>
            <a:off x="2715768" y="303580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Freeform 20"/>
          <p:cNvSpPr/>
          <p:nvPr/>
        </p:nvSpPr>
        <p:spPr>
          <a:xfrm>
            <a:off x="2825496" y="3172968"/>
            <a:ext cx="201168" cy="164592"/>
          </a:xfrm>
          <a:custGeom>
            <a:avLst/>
            <a:gdLst/>
            <a:ahLst/>
            <a:cxnLst/>
            <a:rect l="l" t="t" r="r" b="b"/>
            <a:pathLst>
              <a:path w="201168" h="164592">
                <a:moveTo>
                  <a:pt x="0" y="0"/>
                </a:moveTo>
                <a:lnTo>
                  <a:pt x="201168" y="0"/>
                </a:lnTo>
                <a:lnTo>
                  <a:pt x="201168" y="109728"/>
                </a:lnTo>
                <a:lnTo>
                  <a:pt x="82296" y="109728"/>
                </a:lnTo>
                <a:lnTo>
                  <a:pt x="36576" y="164592"/>
                </a:lnTo>
                <a:lnTo>
                  <a:pt x="45720" y="109728"/>
                </a:lnTo>
                <a:lnTo>
                  <a:pt x="0" y="109728"/>
                </a:lnTo>
                <a:close/>
              </a:path>
            </a:pathLst>
          </a:cu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2" name="Connector 21"/>
          <p:cNvCxnSpPr/>
          <p:nvPr/>
        </p:nvCxnSpPr>
        <p:spPr>
          <a:xfrm>
            <a:off x="2866644" y="3214115"/>
            <a:ext cx="118872" cy="0"/>
          </a:xfrm>
          <a:prstGeom prst="line">
            <a:avLst/>
          </a:prstGeom>
          <a:ln w="11430">
            <a:solidFill>
              <a:srgbClr val="000000"/>
            </a:solidFill>
          </a:ln>
        </p:spPr>
      </p:cxnSp>
      <p:cxnSp>
        <p:nvCxnSpPr>
          <p:cNvPr id="23" name="Connector 22"/>
          <p:cNvCxnSpPr/>
          <p:nvPr/>
        </p:nvCxnSpPr>
        <p:spPr>
          <a:xfrm>
            <a:off x="2866644" y="3246120"/>
            <a:ext cx="118872" cy="0"/>
          </a:xfrm>
          <a:prstGeom prst="line">
            <a:avLst/>
          </a:prstGeom>
          <a:ln w="11430">
            <a:solidFill>
              <a:srgbClr val="000000"/>
            </a:solidFill>
          </a:ln>
        </p:spPr>
      </p:cxnSp>
      <p:sp>
        <p:nvSpPr>
          <p:cNvPr id="24" name="TextBox 23"/>
          <p:cNvSpPr txBox="1"/>
          <p:nvPr/>
        </p:nvSpPr>
        <p:spPr>
          <a:xfrm>
            <a:off x="3689131" y="2231136"/>
            <a:ext cx="594360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인공지능 학회</a:t>
            </a: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   2025.01 ~ 2026.07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89131" y="2478024"/>
            <a:ext cx="3433729" cy="82296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6" name="Connector 25"/>
          <p:cNvCxnSpPr/>
          <p:nvPr/>
        </p:nvCxnSpPr>
        <p:spPr>
          <a:xfrm>
            <a:off x="3689131" y="2560320"/>
            <a:ext cx="0" cy="475488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27" name="Oval 26"/>
          <p:cNvSpPr/>
          <p:nvPr/>
        </p:nvSpPr>
        <p:spPr>
          <a:xfrm>
            <a:off x="3478819" y="303580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3606835" y="3168396"/>
            <a:ext cx="64008" cy="6400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Freeform 28"/>
          <p:cNvSpPr/>
          <p:nvPr/>
        </p:nvSpPr>
        <p:spPr>
          <a:xfrm>
            <a:off x="3588547" y="3273551"/>
            <a:ext cx="100584" cy="54864"/>
          </a:xfrm>
          <a:custGeom>
            <a:avLst/>
            <a:gdLst/>
            <a:ahLst/>
            <a:cxnLst/>
            <a:rect l="l" t="t" r="r" b="b"/>
            <a:pathLst>
              <a:path w="100584" h="54864">
                <a:moveTo>
                  <a:pt x="0" y="54864"/>
                </a:moveTo>
                <a:lnTo>
                  <a:pt x="9144" y="0"/>
                </a:lnTo>
                <a:lnTo>
                  <a:pt x="91440" y="0"/>
                </a:lnTo>
                <a:lnTo>
                  <a:pt x="100584" y="54864"/>
                </a:lnTo>
              </a:path>
            </a:pathLst>
          </a:cu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3716563" y="3172968"/>
            <a:ext cx="54864" cy="5486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Freeform 30"/>
          <p:cNvSpPr/>
          <p:nvPr/>
        </p:nvSpPr>
        <p:spPr>
          <a:xfrm>
            <a:off x="3693703" y="3273551"/>
            <a:ext cx="100584" cy="54864"/>
          </a:xfrm>
          <a:custGeom>
            <a:avLst/>
            <a:gdLst/>
            <a:ahLst/>
            <a:cxnLst/>
            <a:rect l="l" t="t" r="r" b="b"/>
            <a:pathLst>
              <a:path w="100584" h="54864">
                <a:moveTo>
                  <a:pt x="0" y="54864"/>
                </a:moveTo>
                <a:lnTo>
                  <a:pt x="9144" y="0"/>
                </a:lnTo>
                <a:lnTo>
                  <a:pt x="91440" y="0"/>
                </a:lnTo>
                <a:lnTo>
                  <a:pt x="100584" y="54864"/>
                </a:lnTo>
              </a:path>
            </a:pathLst>
          </a:cu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215233" y="2660904"/>
            <a:ext cx="594360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통계학 석사</a:t>
            </a: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   2025.09 ~ 2027.02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215233" y="2907792"/>
            <a:ext cx="3242966" cy="82296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4" name="Connector 33"/>
          <p:cNvCxnSpPr/>
          <p:nvPr/>
        </p:nvCxnSpPr>
        <p:spPr>
          <a:xfrm>
            <a:off x="5215233" y="2990088"/>
            <a:ext cx="0" cy="4572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35" name="Oval 34"/>
          <p:cNvSpPr/>
          <p:nvPr/>
        </p:nvSpPr>
        <p:spPr>
          <a:xfrm>
            <a:off x="5004921" y="303580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Freeform 35"/>
          <p:cNvSpPr/>
          <p:nvPr/>
        </p:nvSpPr>
        <p:spPr>
          <a:xfrm>
            <a:off x="5096361" y="3163824"/>
            <a:ext cx="237744" cy="109727"/>
          </a:xfrm>
          <a:custGeom>
            <a:avLst/>
            <a:gdLst/>
            <a:ahLst/>
            <a:cxnLst/>
            <a:rect l="l" t="t" r="r" b="b"/>
            <a:pathLst>
              <a:path w="237744" h="109727">
                <a:moveTo>
                  <a:pt x="0" y="54864"/>
                </a:moveTo>
                <a:lnTo>
                  <a:pt x="118872" y="0"/>
                </a:lnTo>
                <a:lnTo>
                  <a:pt x="237744" y="54864"/>
                </a:lnTo>
                <a:lnTo>
                  <a:pt x="118872" y="109727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Freeform 36"/>
          <p:cNvSpPr/>
          <p:nvPr/>
        </p:nvSpPr>
        <p:spPr>
          <a:xfrm>
            <a:off x="5151225" y="3246120"/>
            <a:ext cx="128016" cy="64007"/>
          </a:xfrm>
          <a:custGeom>
            <a:avLst/>
            <a:gdLst/>
            <a:ahLst/>
            <a:cxnLst/>
            <a:rect l="l" t="t" r="r" b="b"/>
            <a:pathLst>
              <a:path w="128016" h="64007">
                <a:moveTo>
                  <a:pt x="0" y="0"/>
                </a:moveTo>
                <a:lnTo>
                  <a:pt x="0" y="64007"/>
                </a:lnTo>
                <a:lnTo>
                  <a:pt x="128016" y="64007"/>
                </a:lnTo>
                <a:lnTo>
                  <a:pt x="128016" y="0"/>
                </a:lnTo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8" name="Connector 37"/>
          <p:cNvCxnSpPr/>
          <p:nvPr/>
        </p:nvCxnSpPr>
        <p:spPr>
          <a:xfrm>
            <a:off x="5315817" y="3227832"/>
            <a:ext cx="0" cy="82295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39" name="Rectangle 38"/>
          <p:cNvSpPr/>
          <p:nvPr/>
        </p:nvSpPr>
        <p:spPr>
          <a:xfrm>
            <a:off x="6932097" y="3081528"/>
            <a:ext cx="572288" cy="82296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577538" y="3026664"/>
            <a:ext cx="109728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BCG 인턴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600200" y="450799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2" name="Connector 41"/>
          <p:cNvCxnSpPr/>
          <p:nvPr/>
        </p:nvCxnSpPr>
        <p:spPr>
          <a:xfrm>
            <a:off x="2263140" y="450799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3" name="Connector 42"/>
          <p:cNvCxnSpPr/>
          <p:nvPr/>
        </p:nvCxnSpPr>
        <p:spPr>
          <a:xfrm>
            <a:off x="2926080" y="4507992"/>
            <a:ext cx="0" cy="1371600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4" name="Connector 43"/>
          <p:cNvCxnSpPr/>
          <p:nvPr/>
        </p:nvCxnSpPr>
        <p:spPr>
          <a:xfrm>
            <a:off x="3589020" y="450799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5" name="Connector 44"/>
          <p:cNvCxnSpPr/>
          <p:nvPr/>
        </p:nvCxnSpPr>
        <p:spPr>
          <a:xfrm>
            <a:off x="4251960" y="450799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6" name="Connector 45"/>
          <p:cNvCxnSpPr/>
          <p:nvPr/>
        </p:nvCxnSpPr>
        <p:spPr>
          <a:xfrm>
            <a:off x="4914900" y="4507992"/>
            <a:ext cx="0" cy="1371600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7" name="Connector 46"/>
          <p:cNvCxnSpPr/>
          <p:nvPr/>
        </p:nvCxnSpPr>
        <p:spPr>
          <a:xfrm>
            <a:off x="5577840" y="450799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8" name="Connector 47"/>
          <p:cNvCxnSpPr/>
          <p:nvPr/>
        </p:nvCxnSpPr>
        <p:spPr>
          <a:xfrm>
            <a:off x="6240780" y="450799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9" name="Connector 48"/>
          <p:cNvCxnSpPr/>
          <p:nvPr/>
        </p:nvCxnSpPr>
        <p:spPr>
          <a:xfrm>
            <a:off x="6903720" y="4507992"/>
            <a:ext cx="0" cy="1371600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50" name="Connector 49"/>
          <p:cNvCxnSpPr/>
          <p:nvPr/>
        </p:nvCxnSpPr>
        <p:spPr>
          <a:xfrm>
            <a:off x="7566660" y="450799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51" name="Connector 50"/>
          <p:cNvCxnSpPr/>
          <p:nvPr/>
        </p:nvCxnSpPr>
        <p:spPr>
          <a:xfrm>
            <a:off x="8229600" y="450799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sp>
        <p:nvSpPr>
          <p:cNvPr id="52" name="Oval 51"/>
          <p:cNvSpPr/>
          <p:nvPr/>
        </p:nvSpPr>
        <p:spPr>
          <a:xfrm>
            <a:off x="154533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1563624" y="4727448"/>
            <a:ext cx="1393728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저해상도 조류 이미지 분류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2025.01 ~ 2025.03</a:t>
            </a:r>
          </a:p>
        </p:txBody>
      </p:sp>
      <p:sp>
        <p:nvSpPr>
          <p:cNvPr id="54" name="Oval 53"/>
          <p:cNvSpPr/>
          <p:nvPr/>
        </p:nvSpPr>
        <p:spPr>
          <a:xfrm>
            <a:off x="220827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2226564" y="5294376"/>
            <a:ext cx="1393728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오늘의집 리뷰 요약 시스템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2025.03 ~ 2025.08</a:t>
            </a:r>
          </a:p>
        </p:txBody>
      </p:sp>
      <p:sp>
        <p:nvSpPr>
          <p:cNvPr id="56" name="Oval 55"/>
          <p:cNvSpPr/>
          <p:nvPr/>
        </p:nvSpPr>
        <p:spPr>
          <a:xfrm>
            <a:off x="287121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2889504" y="5861304"/>
            <a:ext cx="1302014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AutoML 이미지 분류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2025.05</a:t>
            </a:r>
          </a:p>
        </p:txBody>
      </p:sp>
      <p:sp>
        <p:nvSpPr>
          <p:cNvPr id="58" name="Oval 57"/>
          <p:cNvSpPr/>
          <p:nvPr/>
        </p:nvSpPr>
        <p:spPr>
          <a:xfrm>
            <a:off x="353415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3552444" y="4727448"/>
            <a:ext cx="1760585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담낭암 생존분석 연구 (대형병원)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2025.06 ~ 2025.08</a:t>
            </a:r>
          </a:p>
        </p:txBody>
      </p:sp>
      <p:sp>
        <p:nvSpPr>
          <p:cNvPr id="60" name="Oval 59"/>
          <p:cNvSpPr/>
          <p:nvPr/>
        </p:nvSpPr>
        <p:spPr>
          <a:xfrm>
            <a:off x="419709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4215384" y="5294376"/>
            <a:ext cx="1393728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시각장애인용 피부질환 예측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2025.07</a:t>
            </a:r>
          </a:p>
        </p:txBody>
      </p:sp>
      <p:sp>
        <p:nvSpPr>
          <p:cNvPr id="62" name="Oval 61"/>
          <p:cNvSpPr/>
          <p:nvPr/>
        </p:nvSpPr>
        <p:spPr>
          <a:xfrm>
            <a:off x="4837176" y="435711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4878324" y="5861304"/>
            <a:ext cx="1242669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환헤지 멀티에이전트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2025.07 ~ 2025.12</a:t>
            </a:r>
          </a:p>
        </p:txBody>
      </p:sp>
      <p:sp>
        <p:nvSpPr>
          <p:cNvPr id="64" name="Oval 63"/>
          <p:cNvSpPr/>
          <p:nvPr/>
        </p:nvSpPr>
        <p:spPr>
          <a:xfrm>
            <a:off x="552297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5541264" y="4727448"/>
            <a:ext cx="1210299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건물별 전력사용량 예측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2025.08 ~ 2025.09</a:t>
            </a:r>
          </a:p>
        </p:txBody>
      </p:sp>
      <p:sp>
        <p:nvSpPr>
          <p:cNvPr id="66" name="Oval 65"/>
          <p:cNvSpPr/>
          <p:nvPr/>
        </p:nvSpPr>
        <p:spPr>
          <a:xfrm>
            <a:off x="6163056" y="435711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6204204" y="5294376"/>
            <a:ext cx="1695846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3D 의료 파운데이션 모델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2025.09 ~ 2026.02</a:t>
            </a:r>
          </a:p>
        </p:txBody>
      </p:sp>
      <p:sp>
        <p:nvSpPr>
          <p:cNvPr id="68" name="Oval 67"/>
          <p:cNvSpPr/>
          <p:nvPr/>
        </p:nvSpPr>
        <p:spPr>
          <a:xfrm>
            <a:off x="684885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6867144" y="5861304"/>
            <a:ext cx="1577157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의료 데이터 다변량 평균 비교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2025.10</a:t>
            </a:r>
          </a:p>
        </p:txBody>
      </p:sp>
      <p:sp>
        <p:nvSpPr>
          <p:cNvPr id="70" name="Oval 69"/>
          <p:cNvSpPr/>
          <p:nvPr/>
        </p:nvSpPr>
        <p:spPr>
          <a:xfrm>
            <a:off x="7488936" y="435711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7530084" y="4727448"/>
            <a:ext cx="1469257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확률론 시험 자동 채점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2026.02 ~ 2026.03</a:t>
            </a:r>
          </a:p>
        </p:txBody>
      </p:sp>
      <p:sp>
        <p:nvSpPr>
          <p:cNvPr id="72" name="Oval 71"/>
          <p:cNvSpPr/>
          <p:nvPr/>
        </p:nvSpPr>
        <p:spPr>
          <a:xfrm>
            <a:off x="8151875" y="435711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8193024" y="5294376"/>
            <a:ext cx="2149022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자율주행 ODD 위험평가 에이전트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2026.05 ~ 2026.06</a:t>
            </a:r>
          </a:p>
        </p:txBody>
      </p:sp>
      <p:sp>
        <p:nvSpPr>
          <p:cNvPr id="74" name="Oval 73"/>
          <p:cNvSpPr/>
          <p:nvPr/>
        </p:nvSpPr>
        <p:spPr>
          <a:xfrm>
            <a:off x="8778240" y="3520440"/>
            <a:ext cx="640080" cy="640080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Freeform 74"/>
          <p:cNvSpPr/>
          <p:nvPr/>
        </p:nvSpPr>
        <p:spPr>
          <a:xfrm>
            <a:off x="8979407" y="3794760"/>
            <a:ext cx="237745" cy="137160"/>
          </a:xfrm>
          <a:custGeom>
            <a:avLst/>
            <a:gdLst/>
            <a:ahLst/>
            <a:cxnLst/>
            <a:rect l="l" t="t" r="r" b="b"/>
            <a:pathLst>
              <a:path w="237745" h="137160">
                <a:moveTo>
                  <a:pt x="0" y="0"/>
                </a:moveTo>
                <a:lnTo>
                  <a:pt x="237745" y="0"/>
                </a:lnTo>
                <a:lnTo>
                  <a:pt x="237745" y="137160"/>
                </a:lnTo>
                <a:lnTo>
                  <a:pt x="0" y="137160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Freeform 75"/>
          <p:cNvSpPr/>
          <p:nvPr/>
        </p:nvSpPr>
        <p:spPr>
          <a:xfrm>
            <a:off x="9057132" y="3749040"/>
            <a:ext cx="82296" cy="45720"/>
          </a:xfrm>
          <a:custGeom>
            <a:avLst/>
            <a:gdLst/>
            <a:ahLst/>
            <a:cxnLst/>
            <a:rect l="l" t="t" r="r" b="b"/>
            <a:pathLst>
              <a:path w="82296" h="45720">
                <a:moveTo>
                  <a:pt x="0" y="45720"/>
                </a:moveTo>
                <a:lnTo>
                  <a:pt x="0" y="0"/>
                </a:lnTo>
                <a:lnTo>
                  <a:pt x="82296" y="0"/>
                </a:lnTo>
                <a:lnTo>
                  <a:pt x="82296" y="45720"/>
                </a:lnTo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7" name="Connector 76"/>
          <p:cNvCxnSpPr/>
          <p:nvPr/>
        </p:nvCxnSpPr>
        <p:spPr>
          <a:xfrm>
            <a:off x="8979407" y="3849624"/>
            <a:ext cx="237745" cy="0"/>
          </a:xfrm>
          <a:prstGeom prst="line">
            <a:avLst/>
          </a:prstGeom>
          <a:ln w="12700">
            <a:solidFill>
              <a:srgbClr val="FFFFFF"/>
            </a:solidFill>
          </a:ln>
        </p:spPr>
      </p:cxnSp>
      <p:sp>
        <p:nvSpPr>
          <p:cNvPr id="78" name="TextBox 77"/>
          <p:cNvSpPr txBox="1"/>
          <p:nvPr/>
        </p:nvSpPr>
        <p:spPr>
          <a:xfrm>
            <a:off x="8823959" y="2167128"/>
            <a:ext cx="2651760" cy="128930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BCG 인턴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•  데이터마트 제작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•  불량 확률 예측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•  SHAP 분석 (CTP-CTQ matrix)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•  LLM 에이전트 및 인터페이스 개발</a:t>
            </a:r>
          </a:p>
          <a:p>
            <a:pPr algn="l">
              <a:lnSpc>
                <a:spcPct val="125000"/>
              </a:lnSpc>
            </a:pP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2026.06 ~ 2026.09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9418319" y="3840480"/>
            <a:ext cx="658369" cy="0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80" name="Oval 79"/>
          <p:cNvSpPr/>
          <p:nvPr/>
        </p:nvSpPr>
        <p:spPr>
          <a:xfrm>
            <a:off x="10076688" y="363016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Freeform 80"/>
          <p:cNvSpPr/>
          <p:nvPr/>
        </p:nvSpPr>
        <p:spPr>
          <a:xfrm>
            <a:off x="10177272" y="3767328"/>
            <a:ext cx="219456" cy="146304"/>
          </a:xfrm>
          <a:custGeom>
            <a:avLst/>
            <a:gdLst/>
            <a:ahLst/>
            <a:cxnLst/>
            <a:rect l="l" t="t" r="r" b="b"/>
            <a:pathLst>
              <a:path w="219456" h="146304">
                <a:moveTo>
                  <a:pt x="0" y="0"/>
                </a:moveTo>
                <a:lnTo>
                  <a:pt x="219456" y="0"/>
                </a:lnTo>
                <a:lnTo>
                  <a:pt x="219456" y="146304"/>
                </a:lnTo>
                <a:lnTo>
                  <a:pt x="0" y="146304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2" name="Connector 81"/>
          <p:cNvCxnSpPr/>
          <p:nvPr/>
        </p:nvCxnSpPr>
        <p:spPr>
          <a:xfrm>
            <a:off x="10177272" y="3808476"/>
            <a:ext cx="219456" cy="0"/>
          </a:xfrm>
          <a:prstGeom prst="line">
            <a:avLst/>
          </a:prstGeom>
          <a:ln w="25400">
            <a:solidFill>
              <a:srgbClr val="000000"/>
            </a:solidFill>
          </a:ln>
        </p:spPr>
      </p:cxnSp>
      <p:cxnSp>
        <p:nvCxnSpPr>
          <p:cNvPr id="83" name="Connector 82"/>
          <p:cNvCxnSpPr/>
          <p:nvPr/>
        </p:nvCxnSpPr>
        <p:spPr>
          <a:xfrm>
            <a:off x="10213848" y="3877056"/>
            <a:ext cx="54864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84" name="TextBox 83"/>
          <p:cNvSpPr txBox="1"/>
          <p:nvPr/>
        </p:nvSpPr>
        <p:spPr>
          <a:xfrm>
            <a:off x="10012680" y="4169664"/>
            <a:ext cx="163037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현대카드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566928"/>
            <a:ext cx="11094415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02 New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9441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신용평가모형 자동 점검 시스템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94415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데이터</a:t>
            </a:r>
            <a:r>
              <a:rPr sz="10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Lending Club 대출 226만 건 (2007~2018년)      </a:t>
            </a:r>
            <a:r>
              <a:rPr sz="100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모형</a:t>
            </a:r>
            <a:r>
              <a:rPr sz="10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2010~2013년 상반기 대출 14만 건의 대출 조건, 소득, 신용 이력으로 학습한 LightGBM 모형 (2년 내 상각 확률 예측)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22869"/>
            <a:ext cx="11094415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755648"/>
            <a:ext cx="630936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문제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38528"/>
            <a:ext cx="6309360" cy="54864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신용평가모형의 예측 상각률과 실제 상각률 차이 확대</a:t>
            </a:r>
          </a:p>
          <a:p>
            <a:pPr algn="l">
              <a:lnSpc>
                <a:spcPct val="135000"/>
              </a:lnSpc>
            </a:pPr>
            <a:r>
              <a:rPr sz="10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상각률: 대출 실행 후 2년 내 상환 중단 후 손실 처리 비율</a:t>
            </a:r>
          </a:p>
        </p:txBody>
      </p:sp>
      <p:pic>
        <p:nvPicPr>
          <p:cNvPr id="8" name="Picture 7" descr="chart_ef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19" y="2395728"/>
            <a:ext cx="6309360" cy="387574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6289765"/>
            <a:ext cx="630936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판단 시점별 보유 대출의 예측 상각률과 사후 확인된 실제 상각률 (갱신 승인 가정)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1755648"/>
            <a:ext cx="4373575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작동 방식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69480" y="1965960"/>
            <a:ext cx="437357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  </a:t>
            </a:r>
            <a:r>
              <a:rPr sz="1100" b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3개월마다 결과가 확정된 대출의 예측 상각률과 실제 상각률 비교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69480" y="2295144"/>
            <a:ext cx="437357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  </a:t>
            </a:r>
            <a:r>
              <a:rPr sz="1100" b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차이가 기준 초과 시 모형 수정안 12종 성능 비교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2624328"/>
            <a:ext cx="437357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3  </a:t>
            </a:r>
            <a:r>
              <a:rPr sz="1100" b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기준 통과안 담당자 보고, 담당자가 적용 여부 결정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69480" y="3104197"/>
            <a:ext cx="437357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269480" y="3200400"/>
            <a:ext cx="4373575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성과  2015~2018년 자료로 3년간 운영 재현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566160"/>
            <a:ext cx="1323746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상각률 이상 경고 시점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480" y="3840480"/>
            <a:ext cx="1323746" cy="7680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6개월 전</a:t>
            </a:r>
          </a:p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사전 예측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480" y="4718304"/>
            <a:ext cx="1323746" cy="914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대출 1년 차 실적으로 경고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기존 방식은 2년 차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실적 확인 후 경고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9047" y="3566160"/>
            <a:ext cx="9525" cy="192024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794394" y="3566160"/>
            <a:ext cx="1323746" cy="4023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모형 갱신 후 상각률</a:t>
            </a:r>
          </a:p>
          <a:p>
            <a:pPr algn="l">
              <a:lnSpc>
                <a:spcPct val="115000"/>
              </a:lnSpc>
            </a:pPr>
            <a:r>
              <a:rPr sz="9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예측 오차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94394" y="4041648"/>
            <a:ext cx="1323746" cy="3840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94394" y="4535424"/>
            <a:ext cx="1323746" cy="914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갱신 안 할 시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예측 오차 33%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(2018년 4분기 기준)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213961" y="3566160"/>
            <a:ext cx="9525" cy="192024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319308" y="3566160"/>
            <a:ext cx="1323746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3년간 모형 갱신 횟수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19308" y="3840480"/>
            <a:ext cx="1323746" cy="3840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2회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19308" y="4334256"/>
            <a:ext cx="1323746" cy="914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3년 평균 예측 오차 9.5%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3개월마다 재학습 시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13회 갱신,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예측 오차 18.8%</a:t>
            </a:r>
          </a:p>
        </p:txBody>
      </p:sp>
      <p:pic>
        <p:nvPicPr>
          <p:cNvPr id="27" name="Picture 26" descr="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11535" y="384048"/>
            <a:ext cx="731520" cy="7315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985455" y="566928"/>
            <a:ext cx="2788920" cy="4572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시뮬레이션 링크</a:t>
            </a:r>
          </a:p>
          <a:p>
            <a:pPr algn="r">
              <a:lnSpc>
                <a:spcPct val="130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kjhoeakjy.github.io/csm-auto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69480" y="5989320"/>
            <a:ext cx="4373575" cy="6858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판정 규칙과 모형 설정은 같은 기간 결과를 보고 정한 탐색 단계 결과입니다.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상각 시점은 마지막 납부월 기준 근사치입니다.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시점별 판단은 해당 시점까지 확정된 정보로 수행했습니다.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공개 자료 기반 과거 재현이며 실제 금융회사 운영 사례가 아닙니다.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369</Words>
  <Application>Microsoft Office PowerPoint</Application>
  <PresentationFormat>와이드스크린</PresentationFormat>
  <Paragraphs>73</Paragraphs>
  <Slides>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8" baseType="lpstr">
      <vt:lpstr>Calibri</vt:lpstr>
      <vt:lpstr>Pretendard</vt:lpstr>
      <vt:lpstr>Pretendard Medium</vt:lpstr>
      <vt:lpstr>Pretendard SemiBold</vt:lpstr>
      <vt:lpstr>Arial</vt:lpstr>
      <vt:lpstr>Office Theme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리스크 역량PT</dc:title>
  <dc:subject/>
  <dc:creator>김연주</dc:creator>
  <cp:keywords/>
  <dc:description>generated using python-pptx</dc:description>
  <cp:lastModifiedBy>연주 김</cp:lastModifiedBy>
  <cp:revision>2</cp:revision>
  <dcterms:created xsi:type="dcterms:W3CDTF">2013-01-27T09:14:16Z</dcterms:created>
  <dcterms:modified xsi:type="dcterms:W3CDTF">2026-10-23T07:47:36Z</dcterms:modified>
  <cp:category/>
</cp:coreProperties>
</file>